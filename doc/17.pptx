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777" r:id="rId3"/>
    <p:sldId id="843" r:id="rId5"/>
    <p:sldId id="866" r:id="rId6"/>
    <p:sldId id="776" r:id="rId7"/>
    <p:sldId id="779" r:id="rId8"/>
    <p:sldId id="842" r:id="rId9"/>
    <p:sldId id="860" r:id="rId10"/>
    <p:sldId id="829" r:id="rId11"/>
    <p:sldId id="861" r:id="rId12"/>
    <p:sldId id="862" r:id="rId13"/>
    <p:sldId id="863" r:id="rId14"/>
    <p:sldId id="864" r:id="rId15"/>
    <p:sldId id="844" r:id="rId16"/>
    <p:sldId id="851" r:id="rId17"/>
    <p:sldId id="854" r:id="rId18"/>
    <p:sldId id="855" r:id="rId19"/>
    <p:sldId id="856" r:id="rId20"/>
    <p:sldId id="845" r:id="rId21"/>
    <p:sldId id="853" r:id="rId22"/>
    <p:sldId id="857" r:id="rId23"/>
    <p:sldId id="858" r:id="rId24"/>
    <p:sldId id="859" r:id="rId25"/>
    <p:sldId id="846" r:id="rId26"/>
    <p:sldId id="850" r:id="rId27"/>
    <p:sldId id="867" r:id="rId28"/>
    <p:sldId id="849" r:id="rId29"/>
    <p:sldId id="832" r:id="rId30"/>
  </p:sldIdLst>
  <p:sldSz cx="12192000" cy="6858000"/>
  <p:notesSz cx="6858000" cy="9144000"/>
  <p:custDataLst>
    <p:tags r:id="rId3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123" initials="1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2609"/>
    <a:srgbClr val="65CEF4"/>
    <a:srgbClr val="EEEEEE"/>
    <a:srgbClr val="014924"/>
    <a:srgbClr val="E7E6E5"/>
    <a:srgbClr val="E8E8E8"/>
    <a:srgbClr val="BFBFBF"/>
    <a:srgbClr val="22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79" autoAdjust="0"/>
    <p:restoredTop sz="94660"/>
  </p:normalViewPr>
  <p:slideViewPr>
    <p:cSldViewPr snapToGrid="0">
      <p:cViewPr>
        <p:scale>
          <a:sx n="66" d="100"/>
          <a:sy n="66" d="100"/>
        </p:scale>
        <p:origin x="155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47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gs" Target="tags/tag40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1CF01E-7679-46AD-BD36-A23A11BF84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35F92-EA63-496E-83CB-B20A02D636E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23912-F76B-44AA-AEEC-D62510CEF6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025F4-21EF-435D-81ED-3E98BA65D94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025F4-21EF-435D-81ED-3E98BA65D9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025F4-21EF-435D-81ED-3E98BA65D9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1157288" y="1489075"/>
            <a:ext cx="4637087" cy="175895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/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1"/>
          </p:nvPr>
        </p:nvSpPr>
        <p:spPr>
          <a:xfrm>
            <a:off x="6396946" y="1489075"/>
            <a:ext cx="4637087" cy="175895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479426" y="1489075"/>
            <a:ext cx="3356534" cy="175895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0" name="图片占位符 4"/>
          <p:cNvSpPr>
            <a:spLocks noGrp="1"/>
          </p:cNvSpPr>
          <p:nvPr>
            <p:ph type="pic" sz="quarter" idx="11"/>
          </p:nvPr>
        </p:nvSpPr>
        <p:spPr>
          <a:xfrm>
            <a:off x="4417733" y="1489075"/>
            <a:ext cx="3356534" cy="175895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12"/>
          </p:nvPr>
        </p:nvSpPr>
        <p:spPr>
          <a:xfrm>
            <a:off x="8356035" y="1489075"/>
            <a:ext cx="3356534" cy="175895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505534" y="1531257"/>
            <a:ext cx="2232000" cy="214920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8" name="图片占位符 4"/>
          <p:cNvSpPr>
            <a:spLocks noGrp="1"/>
          </p:cNvSpPr>
          <p:nvPr>
            <p:ph type="pic" sz="quarter" idx="11"/>
          </p:nvPr>
        </p:nvSpPr>
        <p:spPr>
          <a:xfrm>
            <a:off x="4990266" y="1531257"/>
            <a:ext cx="2232000" cy="214920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9" name="图片占位符 4"/>
          <p:cNvSpPr>
            <a:spLocks noGrp="1"/>
          </p:cNvSpPr>
          <p:nvPr>
            <p:ph type="pic" sz="quarter" idx="12"/>
          </p:nvPr>
        </p:nvSpPr>
        <p:spPr>
          <a:xfrm>
            <a:off x="9474999" y="1531257"/>
            <a:ext cx="2232000" cy="214920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2" name="图片占位符 4"/>
          <p:cNvSpPr>
            <a:spLocks noGrp="1"/>
          </p:cNvSpPr>
          <p:nvPr>
            <p:ph type="pic" sz="quarter" idx="13"/>
          </p:nvPr>
        </p:nvSpPr>
        <p:spPr>
          <a:xfrm>
            <a:off x="2745360" y="3678467"/>
            <a:ext cx="2232000" cy="214920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3" name="图片占位符 4"/>
          <p:cNvSpPr>
            <a:spLocks noGrp="1"/>
          </p:cNvSpPr>
          <p:nvPr>
            <p:ph type="pic" sz="quarter" idx="14"/>
          </p:nvPr>
        </p:nvSpPr>
        <p:spPr>
          <a:xfrm>
            <a:off x="7235172" y="3678467"/>
            <a:ext cx="2232000" cy="214920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4"/>
          <p:cNvSpPr>
            <a:spLocks noGrp="1"/>
          </p:cNvSpPr>
          <p:nvPr>
            <p:ph type="pic" sz="quarter" idx="13"/>
          </p:nvPr>
        </p:nvSpPr>
        <p:spPr>
          <a:xfrm>
            <a:off x="479424" y="3678467"/>
            <a:ext cx="7532462" cy="214920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3" name="图片占位符 4"/>
          <p:cNvSpPr>
            <a:spLocks noGrp="1"/>
          </p:cNvSpPr>
          <p:nvPr>
            <p:ph type="pic" sz="quarter" idx="14"/>
          </p:nvPr>
        </p:nvSpPr>
        <p:spPr>
          <a:xfrm>
            <a:off x="8157029" y="3678467"/>
            <a:ext cx="3555546" cy="214920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3"/>
          </p:nvPr>
        </p:nvSpPr>
        <p:spPr>
          <a:xfrm>
            <a:off x="502302" y="1629270"/>
            <a:ext cx="3492669" cy="2056128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4"/>
          </p:nvPr>
        </p:nvSpPr>
        <p:spPr>
          <a:xfrm>
            <a:off x="8219906" y="1629270"/>
            <a:ext cx="3492669" cy="2056128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7" name="图片占位符 4"/>
          <p:cNvSpPr>
            <a:spLocks noGrp="1"/>
          </p:cNvSpPr>
          <p:nvPr>
            <p:ph type="pic" sz="quarter" idx="15"/>
          </p:nvPr>
        </p:nvSpPr>
        <p:spPr>
          <a:xfrm>
            <a:off x="4356952" y="3685398"/>
            <a:ext cx="3492669" cy="2056128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826064" y="1655536"/>
            <a:ext cx="2149200" cy="21492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5020856" y="1655536"/>
            <a:ext cx="2149200" cy="21492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9215648" y="1655536"/>
            <a:ext cx="2149200" cy="21492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4"/>
          <p:cNvSpPr>
            <a:spLocks noGrp="1"/>
          </p:cNvSpPr>
          <p:nvPr>
            <p:ph type="pic" sz="quarter" idx="13"/>
          </p:nvPr>
        </p:nvSpPr>
        <p:spPr>
          <a:xfrm>
            <a:off x="479425" y="1312240"/>
            <a:ext cx="6470571" cy="4652618"/>
          </a:xfrm>
          <a:prstGeom prst="rect">
            <a:avLst/>
          </a:prstGeom>
          <a:blipFill dpi="0" rotWithShape="1">
            <a:blip r:embed="rId2"/>
            <a:srcRect/>
            <a:tile tx="0" ty="0" sx="80000" sy="8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8" name="图片占位符 4"/>
          <p:cNvSpPr>
            <a:spLocks noGrp="1"/>
          </p:cNvSpPr>
          <p:nvPr>
            <p:ph type="pic" sz="quarter" idx="14"/>
          </p:nvPr>
        </p:nvSpPr>
        <p:spPr>
          <a:xfrm>
            <a:off x="7045225" y="1312240"/>
            <a:ext cx="2286063" cy="2286064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9" name="图片占位符 4"/>
          <p:cNvSpPr>
            <a:spLocks noGrp="1"/>
          </p:cNvSpPr>
          <p:nvPr>
            <p:ph type="pic" sz="quarter" idx="15"/>
          </p:nvPr>
        </p:nvSpPr>
        <p:spPr>
          <a:xfrm>
            <a:off x="9426511" y="1312240"/>
            <a:ext cx="2286063" cy="2286064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0" name="图片占位符 4"/>
          <p:cNvSpPr>
            <a:spLocks noGrp="1"/>
          </p:cNvSpPr>
          <p:nvPr>
            <p:ph type="pic" sz="quarter" idx="16"/>
          </p:nvPr>
        </p:nvSpPr>
        <p:spPr>
          <a:xfrm>
            <a:off x="7045225" y="3678794"/>
            <a:ext cx="2286063" cy="2286064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17"/>
          </p:nvPr>
        </p:nvSpPr>
        <p:spPr>
          <a:xfrm>
            <a:off x="9426511" y="3678794"/>
            <a:ext cx="2286063" cy="2286064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4"/>
          <p:cNvSpPr>
            <a:spLocks noGrp="1"/>
          </p:cNvSpPr>
          <p:nvPr>
            <p:ph type="pic" sz="quarter" idx="13"/>
          </p:nvPr>
        </p:nvSpPr>
        <p:spPr>
          <a:xfrm>
            <a:off x="479425" y="1312240"/>
            <a:ext cx="6470571" cy="4652618"/>
          </a:xfrm>
          <a:prstGeom prst="rect">
            <a:avLst/>
          </a:prstGeom>
          <a:blipFill dpi="0" rotWithShape="1">
            <a:blip r:embed="rId2"/>
            <a:srcRect/>
            <a:tile tx="0" ty="0" sx="80000" sy="8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000436" y="3202850"/>
            <a:ext cx="856800" cy="8568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  <p:sp>
        <p:nvSpPr>
          <p:cNvPr id="14" name="图片占位符 6"/>
          <p:cNvSpPr>
            <a:spLocks noGrp="1"/>
          </p:cNvSpPr>
          <p:nvPr>
            <p:ph type="pic" sz="quarter" idx="10"/>
          </p:nvPr>
        </p:nvSpPr>
        <p:spPr>
          <a:xfrm>
            <a:off x="4812919" y="1144467"/>
            <a:ext cx="1252800" cy="12528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6" name="图片占位符 6"/>
          <p:cNvSpPr>
            <a:spLocks noGrp="1"/>
          </p:cNvSpPr>
          <p:nvPr>
            <p:ph type="pic" sz="quarter" idx="12"/>
          </p:nvPr>
        </p:nvSpPr>
        <p:spPr>
          <a:xfrm>
            <a:off x="3703480" y="3202850"/>
            <a:ext cx="856800" cy="8568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8" name="图片占位符 6"/>
          <p:cNvSpPr>
            <a:spLocks noGrp="1"/>
          </p:cNvSpPr>
          <p:nvPr>
            <p:ph type="pic" sz="quarter" idx="13"/>
          </p:nvPr>
        </p:nvSpPr>
        <p:spPr>
          <a:xfrm>
            <a:off x="6404539" y="3202850"/>
            <a:ext cx="856800" cy="8568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9" name="图片占位符 6"/>
          <p:cNvSpPr>
            <a:spLocks noGrp="1"/>
          </p:cNvSpPr>
          <p:nvPr>
            <p:ph type="pic" sz="quarter" idx="14"/>
          </p:nvPr>
        </p:nvSpPr>
        <p:spPr>
          <a:xfrm>
            <a:off x="9068484" y="3202850"/>
            <a:ext cx="856800" cy="8568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0" name="图片占位符 6"/>
          <p:cNvSpPr>
            <a:spLocks noGrp="1"/>
          </p:cNvSpPr>
          <p:nvPr>
            <p:ph type="pic" sz="quarter" idx="15"/>
          </p:nvPr>
        </p:nvSpPr>
        <p:spPr>
          <a:xfrm>
            <a:off x="1721147" y="4391486"/>
            <a:ext cx="586800" cy="586800"/>
          </a:xfrm>
          <a:prstGeom prst="flowChartConnector">
            <a:avLst/>
          </a:prstGeom>
          <a:blipFill dpi="0" rotWithShape="1">
            <a:blip r:embed="rId2"/>
            <a:srcRect/>
            <a:tile tx="0" ty="0" sx="40000" sy="4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1" name="图片占位符 6"/>
          <p:cNvSpPr>
            <a:spLocks noGrp="1"/>
          </p:cNvSpPr>
          <p:nvPr>
            <p:ph type="pic" sz="quarter" idx="16"/>
          </p:nvPr>
        </p:nvSpPr>
        <p:spPr>
          <a:xfrm>
            <a:off x="4417716" y="4391486"/>
            <a:ext cx="586800" cy="586800"/>
          </a:xfrm>
          <a:prstGeom prst="flowChartConnector">
            <a:avLst/>
          </a:prstGeom>
          <a:blipFill dpi="0" rotWithShape="1">
            <a:blip r:embed="rId2"/>
            <a:srcRect/>
            <a:tile tx="0" ty="0" sx="40000" sy="4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2" name="图片占位符 6"/>
          <p:cNvSpPr>
            <a:spLocks noGrp="1"/>
          </p:cNvSpPr>
          <p:nvPr>
            <p:ph type="pic" sz="quarter" idx="17"/>
          </p:nvPr>
        </p:nvSpPr>
        <p:spPr>
          <a:xfrm>
            <a:off x="7097937" y="4391486"/>
            <a:ext cx="586800" cy="586800"/>
          </a:xfrm>
          <a:prstGeom prst="flowChartConnector">
            <a:avLst/>
          </a:prstGeom>
          <a:blipFill dpi="0" rotWithShape="1">
            <a:blip r:embed="rId2"/>
            <a:srcRect/>
            <a:tile tx="0" ty="0" sx="40000" sy="4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3" name="图片占位符 6"/>
          <p:cNvSpPr>
            <a:spLocks noGrp="1"/>
          </p:cNvSpPr>
          <p:nvPr>
            <p:ph type="pic" sz="quarter" idx="18"/>
          </p:nvPr>
        </p:nvSpPr>
        <p:spPr>
          <a:xfrm>
            <a:off x="1721147" y="5127194"/>
            <a:ext cx="586800" cy="586800"/>
          </a:xfrm>
          <a:prstGeom prst="flowChartConnector">
            <a:avLst/>
          </a:prstGeom>
          <a:blipFill dpi="0" rotWithShape="1">
            <a:blip r:embed="rId2"/>
            <a:srcRect/>
            <a:tile tx="0" ty="0" sx="40000" sy="4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4" name="图片占位符 6"/>
          <p:cNvSpPr>
            <a:spLocks noGrp="1"/>
          </p:cNvSpPr>
          <p:nvPr>
            <p:ph type="pic" sz="quarter" idx="19"/>
          </p:nvPr>
        </p:nvSpPr>
        <p:spPr>
          <a:xfrm>
            <a:off x="4417716" y="5127194"/>
            <a:ext cx="586800" cy="586800"/>
          </a:xfrm>
          <a:prstGeom prst="flowChartConnector">
            <a:avLst/>
          </a:prstGeom>
          <a:blipFill dpi="0" rotWithShape="1">
            <a:blip r:embed="rId2"/>
            <a:srcRect/>
            <a:tile tx="0" ty="0" sx="40000" sy="4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065301" y="1666881"/>
            <a:ext cx="2052000" cy="20520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3776871" y="1666881"/>
            <a:ext cx="2052000" cy="20520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2"/>
          </p:nvPr>
        </p:nvSpPr>
        <p:spPr>
          <a:xfrm>
            <a:off x="6489774" y="1666881"/>
            <a:ext cx="2052000" cy="20520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3"/>
          </p:nvPr>
        </p:nvSpPr>
        <p:spPr>
          <a:xfrm>
            <a:off x="9201788" y="1666881"/>
            <a:ext cx="2052000" cy="20520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4"/>
          <p:cNvSpPr>
            <a:spLocks noGrp="1"/>
          </p:cNvSpPr>
          <p:nvPr>
            <p:ph type="pic" sz="quarter" idx="14"/>
          </p:nvPr>
        </p:nvSpPr>
        <p:spPr>
          <a:xfrm>
            <a:off x="923019" y="1714500"/>
            <a:ext cx="4787900" cy="2222500"/>
          </a:xfrm>
          <a:prstGeom prst="rect">
            <a:avLst/>
          </a:prstGeom>
          <a:blipFill dpi="0" rotWithShape="1">
            <a:blip r:embed="rId2"/>
            <a:srcRect/>
            <a:tile tx="-101600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5"/>
          </p:nvPr>
        </p:nvSpPr>
        <p:spPr>
          <a:xfrm>
            <a:off x="6418263" y="1714500"/>
            <a:ext cx="4824412" cy="2222500"/>
          </a:xfrm>
          <a:prstGeom prst="rect">
            <a:avLst/>
          </a:prstGeom>
          <a:blipFill dpi="0" rotWithShape="1">
            <a:blip r:embed="rId2"/>
            <a:srcRect/>
            <a:tile tx="-101600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4"/>
          <p:cNvSpPr>
            <a:spLocks noGrp="1"/>
          </p:cNvSpPr>
          <p:nvPr>
            <p:ph type="pic" sz="quarter" idx="14"/>
          </p:nvPr>
        </p:nvSpPr>
        <p:spPr>
          <a:xfrm>
            <a:off x="6372226" y="1524000"/>
            <a:ext cx="2219326" cy="3947886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4"/>
          <p:cNvSpPr>
            <a:spLocks noGrp="1"/>
          </p:cNvSpPr>
          <p:nvPr>
            <p:ph type="pic" sz="quarter" idx="14"/>
          </p:nvPr>
        </p:nvSpPr>
        <p:spPr>
          <a:xfrm>
            <a:off x="5317515" y="2838556"/>
            <a:ext cx="3264510" cy="1839392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5"/>
          </p:nvPr>
        </p:nvSpPr>
        <p:spPr>
          <a:xfrm>
            <a:off x="9337676" y="1828906"/>
            <a:ext cx="2287588" cy="1288944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4"/>
          <p:cNvSpPr>
            <a:spLocks noGrp="1"/>
          </p:cNvSpPr>
          <p:nvPr>
            <p:ph type="pic" sz="quarter" idx="14"/>
          </p:nvPr>
        </p:nvSpPr>
        <p:spPr>
          <a:xfrm>
            <a:off x="1363038" y="1842015"/>
            <a:ext cx="1942137" cy="340626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4"/>
          </p:nvPr>
        </p:nvSpPr>
        <p:spPr>
          <a:xfrm>
            <a:off x="4223207" y="2560320"/>
            <a:ext cx="1238232" cy="2171701"/>
          </a:xfrm>
          <a:prstGeom prst="rect">
            <a:avLst/>
          </a:prstGeom>
          <a:blipFill dpi="0" rotWithShape="1">
            <a:blip r:embed="rId2"/>
            <a:srcRect/>
            <a:tile tx="0" ty="0" sx="50000" sy="5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7" name="图片占位符 4"/>
          <p:cNvSpPr>
            <a:spLocks noGrp="1"/>
          </p:cNvSpPr>
          <p:nvPr>
            <p:ph type="pic" sz="quarter" idx="16"/>
          </p:nvPr>
        </p:nvSpPr>
        <p:spPr>
          <a:xfrm>
            <a:off x="6836324" y="2560320"/>
            <a:ext cx="1238232" cy="2171701"/>
          </a:xfrm>
          <a:prstGeom prst="rect">
            <a:avLst/>
          </a:prstGeom>
          <a:blipFill dpi="0" rotWithShape="1">
            <a:blip r:embed="rId2"/>
            <a:srcRect/>
            <a:tile tx="0" ty="0" sx="50000" sy="5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5"/>
          </p:nvPr>
        </p:nvSpPr>
        <p:spPr>
          <a:xfrm>
            <a:off x="5334466" y="2154435"/>
            <a:ext cx="1586910" cy="2783238"/>
          </a:xfrm>
          <a:prstGeom prst="rect">
            <a:avLst/>
          </a:prstGeom>
          <a:blipFill dpi="0" rotWithShape="1">
            <a:blip r:embed="rId2"/>
            <a:srcRect/>
            <a:tile tx="0" ty="0" sx="50000" sy="5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>
              <a:buFont typeface="Wingdings" panose="05000000000000000000" pitchFamily="2" charset="2"/>
              <a:buChar char=""/>
              <a:def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0"/>
            <a:ext cx="12192000" cy="732289"/>
          </a:xfrm>
          <a:prstGeom prst="rect">
            <a:avLst/>
          </a:prstGeom>
          <a:solidFill>
            <a:schemeClr val="accent1"/>
          </a:solidFill>
          <a:ln w="12440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5" name="页码"/>
          <p:cNvSpPr txBox="1"/>
          <p:nvPr userDrawn="1"/>
        </p:nvSpPr>
        <p:spPr>
          <a:xfrm>
            <a:off x="11587191" y="6505615"/>
            <a:ext cx="187552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48DBFAF-01A5-47DE-A33F-834723B47D4E}" type="slidenum">
              <a:rPr lang="ja-JP" altLang="en-US" sz="1200" b="1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lang="ja-JP" altLang="en-US" sz="12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6" name="logo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4" y="6422508"/>
            <a:ext cx="315471" cy="315471"/>
          </a:xfrm>
          <a:prstGeom prst="rect">
            <a:avLst/>
          </a:prstGeom>
        </p:spPr>
      </p:pic>
      <p:sp>
        <p:nvSpPr>
          <p:cNvPr id="17" name="标题 16"/>
          <p:cNvSpPr txBox="1"/>
          <p:nvPr userDrawn="1"/>
        </p:nvSpPr>
        <p:spPr>
          <a:xfrm>
            <a:off x="479424" y="165734"/>
            <a:ext cx="11233151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449580" indent="-44958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"/>
              <a:defRPr lang="zh-CN" altLang="en-US" sz="3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533400" indent="-533400"/>
            <a:endParaRPr lang="en-US" dirty="0"/>
          </a:p>
        </p:txBody>
      </p:sp>
      <p:sp>
        <p:nvSpPr>
          <p:cNvPr id="18" name="标题占位符 17"/>
          <p:cNvSpPr>
            <a:spLocks noGrp="1"/>
          </p:cNvSpPr>
          <p:nvPr>
            <p:ph type="title"/>
          </p:nvPr>
        </p:nvSpPr>
        <p:spPr>
          <a:xfrm>
            <a:off x="472169" y="158395"/>
            <a:ext cx="11302574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533400" lvl="0" indent="-533400">
              <a:buFont typeface="Wingdings" panose="05000000000000000000" pitchFamily="2" charset="2"/>
              <a:buChar char=""/>
            </a:pP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3000" b="1" kern="1200" smtClean="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8.xml"/><Relationship Id="rId2" Type="http://schemas.openxmlformats.org/officeDocument/2006/relationships/image" Target="../media/image7.png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2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2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24.xml"/><Relationship Id="rId14" Type="http://schemas.openxmlformats.org/officeDocument/2006/relationships/image" Target="../media/image29.png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tags" Target="../tags/tag23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6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tags" Target="../tags/tag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31.xml"/><Relationship Id="rId6" Type="http://schemas.openxmlformats.org/officeDocument/2006/relationships/image" Target="../media/image35.png"/><Relationship Id="rId5" Type="http://schemas.openxmlformats.org/officeDocument/2006/relationships/image" Target="../media/image21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17.png"/><Relationship Id="rId1" Type="http://schemas.openxmlformats.org/officeDocument/2006/relationships/tags" Target="../tags/tag30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33.xml"/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tags" Target="../tags/tag32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35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tags" Target="../tags/tag3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image" Target="../media/image6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image" Target="../media/image6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3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5058701"/>
            <a:ext cx="12192000" cy="1799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0175" r="10175"/>
          <a:stretch>
            <a:fillRect/>
          </a:stretch>
        </p:blipFill>
        <p:spPr>
          <a:xfrm>
            <a:off x="695325" y="791099"/>
            <a:ext cx="2894062" cy="5275802"/>
          </a:xfrm>
          <a:custGeom>
            <a:avLst/>
            <a:gdLst>
              <a:gd name="connsiteX0" fmla="*/ 0 w 2894062"/>
              <a:gd name="connsiteY0" fmla="*/ 0 h 5275802"/>
              <a:gd name="connsiteX1" fmla="*/ 2894062 w 2894062"/>
              <a:gd name="connsiteY1" fmla="*/ 0 h 5275802"/>
              <a:gd name="connsiteX2" fmla="*/ 2894062 w 2894062"/>
              <a:gd name="connsiteY2" fmla="*/ 5275802 h 5275802"/>
              <a:gd name="connsiteX3" fmla="*/ 0 w 2894062"/>
              <a:gd name="connsiteY3" fmla="*/ 5275802 h 527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4062" h="5275802">
                <a:moveTo>
                  <a:pt x="0" y="0"/>
                </a:moveTo>
                <a:lnTo>
                  <a:pt x="2894062" y="0"/>
                </a:lnTo>
                <a:lnTo>
                  <a:pt x="2894062" y="5275802"/>
                </a:lnTo>
                <a:lnTo>
                  <a:pt x="0" y="5275802"/>
                </a:lnTo>
                <a:close/>
              </a:path>
            </a:pathLst>
          </a:custGeom>
        </p:spPr>
      </p:pic>
      <p:sp>
        <p:nvSpPr>
          <p:cNvPr id="9" name="矩形 8"/>
          <p:cNvSpPr/>
          <p:nvPr/>
        </p:nvSpPr>
        <p:spPr>
          <a:xfrm>
            <a:off x="3728689" y="791099"/>
            <a:ext cx="7767986" cy="52758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241300" dir="348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705340" y="6351935"/>
            <a:ext cx="1791335" cy="2152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Design and Build 2025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462780" y="1163955"/>
            <a:ext cx="6923405" cy="4805680"/>
            <a:chOff x="7112" y="3369"/>
            <a:chExt cx="10903" cy="7568"/>
          </a:xfrm>
        </p:grpSpPr>
        <p:sp>
          <p:nvSpPr>
            <p:cNvPr id="2" name="文本框 1"/>
            <p:cNvSpPr txBox="1"/>
            <p:nvPr/>
          </p:nvSpPr>
          <p:spPr>
            <a:xfrm>
              <a:off x="7112" y="3369"/>
              <a:ext cx="10903" cy="2417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>
              <a:defPPr>
                <a:defRPr lang="zh-CN"/>
              </a:defPPr>
              <a:lvl1pPr>
                <a:defRPr sz="4000" b="0" i="0">
                  <a:solidFill>
                    <a:srgbClr val="374151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en-US" altLang="zh-C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sym typeface="Arial" panose="020B0604020202020204" pitchFamily="34" charset="0"/>
                </a:rPr>
                <a:t>Design and Build 2025</a:t>
              </a:r>
              <a:endPara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sym typeface="Arial" panose="020B0604020202020204" pitchFamily="34" charset="0"/>
              </a:endParaRPr>
            </a:p>
            <a:p>
              <a:pPr algn="ctr"/>
              <a:r>
                <a:rPr lang="en-US" altLang="zh-C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sym typeface="Arial" panose="020B0604020202020204" pitchFamily="34" charset="0"/>
                </a:rPr>
                <a:t> </a:t>
              </a:r>
              <a:endPara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sym typeface="Arial" panose="020B0604020202020204" pitchFamily="34" charset="0"/>
              </a:endParaRPr>
            </a:p>
            <a:p>
              <a:pPr algn="ctr"/>
              <a:r>
                <a:rPr lang="en-US" altLang="zh-CN" sz="3600" b="1" dirty="0">
                  <a:solidFill>
                    <a:schemeClr val="tx1">
                      <a:lumMod val="85000"/>
                      <a:lumOff val="15000"/>
                    </a:schemeClr>
                  </a:solidFill>
                  <a:sym typeface="Arial" panose="020B0604020202020204" pitchFamily="34" charset="0"/>
                </a:rPr>
                <a:t>MazeBot</a:t>
              </a:r>
              <a:endParaRPr lang="zh-CN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sym typeface="Arial" panose="020B0604020202020204" pitchFamily="34" charset="0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7112" y="5897"/>
              <a:ext cx="4710" cy="5040"/>
              <a:chOff x="4593586" y="4139630"/>
              <a:chExt cx="2990850" cy="3200400"/>
            </a:xfrm>
          </p:grpSpPr>
          <p:sp>
            <p:nvSpPr>
              <p:cNvPr id="4" name="文本框 3"/>
              <p:cNvSpPr txBox="1"/>
              <p:nvPr/>
            </p:nvSpPr>
            <p:spPr>
              <a:xfrm>
                <a:off x="7410273" y="4322510"/>
                <a:ext cx="127000" cy="245745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>
                <a:defPPr>
                  <a:defRPr lang="zh-CN"/>
                </a:defPPr>
                <a:lvl1pPr>
                  <a:defRPr sz="4000" b="0" i="0">
                    <a:solidFill>
                      <a:srgbClr val="374151"/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</a:lstStyle>
              <a:p>
                <a:endPara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4593586" y="4139630"/>
                <a:ext cx="2990850" cy="320040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>
                  <a:defRPr sz="4000" b="0" i="0">
                    <a:solidFill>
                      <a:srgbClr val="374151"/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</a:lstStyle>
              <a:p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Arial" panose="020B0604020202020204" pitchFamily="34" charset="0"/>
                  </a:rPr>
                  <a:t>Group       	</a:t>
                </a: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Arial" panose="020B0604020202020204" pitchFamily="34" charset="0"/>
                  </a:rPr>
                  <a:t>NO. 17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 panose="020B0604020202020204" pitchFamily="34" charset="0"/>
                </a:endParaRPr>
              </a:p>
              <a:p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 panose="020B0604020202020204" pitchFamily="34" charset="0"/>
                </a:endParaRPr>
              </a:p>
              <a:p>
                <a:pPr marL="0" lvl="1" algn="l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Arial" panose="020B0604020202020204" pitchFamily="34" charset="0"/>
                  </a:rPr>
                  <a:t>  		    	</a:t>
                </a: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Yifan Chen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 panose="020B0604020202020204" pitchFamily="34" charset="0"/>
                </a:endParaRPr>
              </a:p>
              <a:p>
                <a:pPr marL="0" lvl="1" algn="l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Arial" panose="020B0604020202020204" pitchFamily="34" charset="0"/>
                  </a:rPr>
                  <a:t> 			</a:t>
                </a: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Zixuan Wang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marL="0" lvl="1" algn="l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  		        Congbo Li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marL="0" lvl="1" algn="l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  		   	Mengdi Yang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marL="0" lvl="1" algn="l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Memebers    	Cheng Wei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marL="0" lvl="1" algn="l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  		   	Yunlu Zhang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lvl="2" indent="457200" algn="l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Yanda Shao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lvl="2" indent="457200" algn="l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Lirui Pan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lvl="2" indent="457200" algn="l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Siyan Wu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marL="0" lvl="1" algn="l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  		   	Fuyang Li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lvl="2" indent="457200" algn="l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Kuangyu Chen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cxnSp>
          <p:nvCxnSpPr>
            <p:cNvPr id="8" name="直接连接符 7"/>
            <p:cNvCxnSpPr/>
            <p:nvPr/>
          </p:nvCxnSpPr>
          <p:spPr>
            <a:xfrm>
              <a:off x="7112" y="5765"/>
              <a:ext cx="9923" cy="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4" y="165838"/>
            <a:ext cx="11233151" cy="415290"/>
          </a:xfrm>
        </p:spPr>
        <p:txBody>
          <a:bodyPr/>
          <a:p>
            <a:r>
              <a:rPr lang="en-US" altLang="zh-CN"/>
              <a:t>Brief Introduction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694180" y="1868170"/>
            <a:ext cx="471297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MazeBot is an intelligent maze exploration robot system based on STM32, integrating </a:t>
            </a: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fully independently designed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technologies such as lidar SLAM, automatic route finding &amp; mapping,  precise motion control, and real-time visualization.</a:t>
            </a:r>
            <a:endParaRPr lang="en-US" altLang="zh-CN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图片 3" descr="f69ca09972e55cc1713eb2aa77224221"/>
          <p:cNvPicPr>
            <a:picLocks noChangeAspect="1"/>
          </p:cNvPicPr>
          <p:nvPr/>
        </p:nvPicPr>
        <p:blipFill>
          <a:blip r:embed="rId1"/>
          <a:srcRect t="10120" b="19278"/>
          <a:stretch>
            <a:fillRect/>
          </a:stretch>
        </p:blipFill>
        <p:spPr>
          <a:xfrm>
            <a:off x="7317552" y="1868450"/>
            <a:ext cx="3195664" cy="4014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4" y="165838"/>
            <a:ext cx="11233151" cy="415290"/>
          </a:xfrm>
        </p:spPr>
        <p:txBody>
          <a:bodyPr/>
          <a:p>
            <a:r>
              <a:rPr lang="en-US" altLang="zh-CN"/>
              <a:t>Our Innovation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576705" y="167386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rgbClr val="00B0F0"/>
                </a:solidFill>
              </a:rPr>
              <a:t>The mapping algorithm of the upper computer was all handwritten by myself and did not call any Python</a:t>
            </a:r>
            <a:r>
              <a:rPr lang="en-US" altLang="zh-CN" sz="2400">
                <a:solidFill>
                  <a:srgbClr val="00B0F0"/>
                </a:solidFill>
              </a:rPr>
              <a:t> </a:t>
            </a:r>
            <a:r>
              <a:rPr lang="en-US" altLang="zh-CN" sz="2400" b="1">
                <a:solidFill>
                  <a:srgbClr val="00B0F0"/>
                </a:solidFill>
              </a:rPr>
              <a:t>libraries</a:t>
            </a:r>
            <a:endParaRPr lang="en-US" altLang="zh-CN" sz="2400" b="1">
              <a:solidFill>
                <a:srgbClr val="00B0F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4600" y="3314065"/>
            <a:ext cx="624205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rgbClr val="1757C9"/>
                </a:solidFill>
              </a:rPr>
              <a:t>A perfect UI interface and a parameter adjustment system tailored to different scenarios</a:t>
            </a:r>
            <a:endParaRPr lang="en-US" altLang="zh-CN" sz="2400" b="1">
              <a:solidFill>
                <a:srgbClr val="1757C9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23920" y="4810760"/>
            <a:ext cx="771652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rgbClr val="00B0F0"/>
                </a:solidFill>
              </a:rPr>
              <a:t>An accurate mileage calculation method was obtained by combining the robot's own mechanical parameters, motor parameters and kinematic formulas</a:t>
            </a:r>
            <a:endParaRPr lang="en-US" altLang="zh-CN" sz="2400" b="1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5058701"/>
            <a:ext cx="12192000" cy="1799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矩形"/>
          <p:cNvSpPr/>
          <p:nvPr/>
        </p:nvSpPr>
        <p:spPr>
          <a:xfrm>
            <a:off x="695325" y="722012"/>
            <a:ext cx="10801350" cy="527580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54000" dist="241300" dir="348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page"/>
          <p:cNvSpPr txBox="1"/>
          <p:nvPr/>
        </p:nvSpPr>
        <p:spPr>
          <a:xfrm>
            <a:off x="11468132" y="6401320"/>
            <a:ext cx="84455" cy="1841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48DBFAF-01A5-47DE-A33F-834723B47D4E}" type="slidenum">
              <a:rPr lang="ja-JP" altLang="en-US" b="1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</a:fld>
            <a:endParaRPr lang="ja-JP" altLang="en-US" b="1" dirty="0" smtClean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标题"/>
          <p:cNvSpPr/>
          <p:nvPr/>
        </p:nvSpPr>
        <p:spPr>
          <a:xfrm flipH="1">
            <a:off x="5136515" y="1033930"/>
            <a:ext cx="1918970" cy="7943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90000" rIns="0" bIns="90000" rtlCol="0" anchor="ctr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kumimoji="1"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Content</a:t>
            </a:r>
            <a:endParaRPr kumimoji="1" lang="en-US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26730" y="785512"/>
            <a:ext cx="3538538" cy="731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117600" y="2319655"/>
            <a:ext cx="10350500" cy="2557780"/>
            <a:chOff x="1588" y="3717"/>
            <a:chExt cx="16300" cy="4028"/>
          </a:xfrm>
        </p:grpSpPr>
        <p:grpSp>
          <p:nvGrpSpPr>
            <p:cNvPr id="4" name="组合 3"/>
            <p:cNvGrpSpPr/>
            <p:nvPr>
              <p:custDataLst>
                <p:tags r:id="rId1"/>
              </p:custDataLst>
            </p:nvPr>
          </p:nvGrpSpPr>
          <p:grpSpPr>
            <a:xfrm>
              <a:off x="9626" y="3842"/>
              <a:ext cx="8262" cy="3708"/>
              <a:chOff x="3147" y="4102"/>
              <a:chExt cx="5849" cy="2723"/>
            </a:xfrm>
          </p:grpSpPr>
          <p:sp>
            <p:nvSpPr>
              <p:cNvPr id="5" name="文本框 4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4037" y="4102"/>
                <a:ext cx="4057" cy="70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>
                <a:defPPr>
                  <a:defRPr lang="en-US"/>
                </a:defPPr>
                <a:lvl1pPr>
                  <a:defRPr sz="2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mar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zh-CN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Software Technical Details</a:t>
                </a:r>
                <a:endPara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" name="矩形: 圆角 28"/>
              <p:cNvSpPr/>
              <p:nvPr>
                <p:custDataLst>
                  <p:tags r:id="rId3"/>
                </p:custDataLst>
              </p:nvPr>
            </p:nvSpPr>
            <p:spPr>
              <a:xfrm>
                <a:off x="3147" y="4102"/>
                <a:ext cx="706" cy="70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4</a:t>
                </a:r>
                <a:endParaRPr lang="en-US" altLang="zh-CN" sz="28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8" name="矩形: 圆角 29"/>
              <p:cNvSpPr/>
              <p:nvPr>
                <p:custDataLst>
                  <p:tags r:id="rId4"/>
                </p:custDataLst>
              </p:nvPr>
            </p:nvSpPr>
            <p:spPr>
              <a:xfrm>
                <a:off x="3147" y="5089"/>
                <a:ext cx="706" cy="70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5</a:t>
                </a:r>
                <a:endParaRPr lang="en-US" altLang="zh-CN" sz="28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9" name="矩形: 圆角 31"/>
              <p:cNvSpPr/>
              <p:nvPr>
                <p:custDataLst>
                  <p:tags r:id="rId5"/>
                </p:custDataLst>
              </p:nvPr>
            </p:nvSpPr>
            <p:spPr>
              <a:xfrm>
                <a:off x="3147" y="6119"/>
                <a:ext cx="706" cy="70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6</a:t>
                </a:r>
                <a:endParaRPr lang="en-US" altLang="zh-CN" sz="28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0" name="文本框 9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037" y="5089"/>
                <a:ext cx="4959" cy="81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>
                <a:defPPr>
                  <a:defRPr lang="en-US"/>
                </a:defPPr>
                <a:lvl1pPr>
                  <a:defRPr sz="2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indent="0" algn="l" fontAlgn="auto">
                  <a:lnSpc>
                    <a:spcPct val="100000"/>
                  </a:lnSpc>
                </a:pPr>
                <a:r>
                  <a:rPr lang="en-US" altLang="zh-CN" dirty="0">
                    <a:latin typeface="Arial" panose="020B0604020202020204" pitchFamily="34" charset="0"/>
                    <a:sym typeface="Arial" panose="020B0604020202020204" pitchFamily="34" charset="0"/>
                  </a:rPr>
                  <a:t>System integration and optimization</a:t>
                </a:r>
                <a:endParaRPr lang="en-US" altLang="zh-CN" dirty="0">
                  <a:latin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1" name="文本框 1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037" y="6104"/>
                <a:ext cx="3168" cy="72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>
                <a:defPPr>
                  <a:defRPr lang="en-US"/>
                </a:defPPr>
                <a:lvl1pPr>
                  <a:defRPr sz="2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altLang="zh-CN" dirty="0">
                    <a:latin typeface="Arial" panose="020B0604020202020204" pitchFamily="34" charset="0"/>
                    <a:sym typeface="Arial" panose="020B0604020202020204" pitchFamily="34" charset="0"/>
                  </a:rPr>
                  <a:t>Epilogue</a:t>
                </a:r>
                <a:endParaRPr lang="en-US" altLang="zh-CN" dirty="0">
                  <a:latin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" name="组合 1"/>
            <p:cNvGrpSpPr/>
            <p:nvPr>
              <p:custDataLst>
                <p:tags r:id="rId8"/>
              </p:custDataLst>
            </p:nvPr>
          </p:nvGrpSpPr>
          <p:grpSpPr>
            <a:xfrm>
              <a:off x="1588" y="3717"/>
              <a:ext cx="8241" cy="4029"/>
              <a:chOff x="3147" y="4102"/>
              <a:chExt cx="5834" cy="2844"/>
            </a:xfrm>
          </p:grpSpPr>
          <p:sp>
            <p:nvSpPr>
              <p:cNvPr id="28" name="文本框 2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037" y="4165"/>
                <a:ext cx="4340" cy="70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>
                <a:defPPr>
                  <a:defRPr lang="en-US"/>
                </a:defPPr>
                <a:lvl1pPr>
                  <a:defRPr sz="2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mar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zh-CN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Autonomous Robot Hardware Architecture</a:t>
                </a:r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矩形: 圆角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3147" y="4102"/>
                <a:ext cx="706" cy="70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1</a:t>
                </a:r>
                <a:endParaRPr lang="en-US" altLang="zh-CN" sz="28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0" name="矩形: 圆角 29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47" y="5089"/>
                <a:ext cx="706" cy="70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2</a:t>
                </a:r>
                <a:endParaRPr lang="en-US" altLang="zh-CN" sz="28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2" name="矩形: 圆角 31"/>
              <p:cNvSpPr/>
              <p:nvPr>
                <p:custDataLst>
                  <p:tags r:id="rId12"/>
                </p:custDataLst>
              </p:nvPr>
            </p:nvSpPr>
            <p:spPr>
              <a:xfrm>
                <a:off x="3147" y="6119"/>
                <a:ext cx="706" cy="70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28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3</a:t>
                </a:r>
                <a:endParaRPr lang="en-US" altLang="zh-CN" sz="28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4" name="文本框 33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037" y="5197"/>
                <a:ext cx="4340" cy="56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>
                <a:defPPr>
                  <a:defRPr lang="en-US"/>
                </a:defPPr>
                <a:lvl1pPr>
                  <a:defRPr sz="2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mar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zh-CN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Firmware Technical Details</a:t>
                </a:r>
                <a:endPara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5" name="文本框 34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3955" y="5973"/>
                <a:ext cx="5026" cy="97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>
                <a:defPPr>
                  <a:defRPr lang="en-US"/>
                </a:defPPr>
                <a:lvl1pPr>
                  <a:defRPr sz="2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mar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zh-CN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Upper-Lower Computer Collaboration Architecture</a:t>
                </a:r>
                <a:endPara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1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5058701"/>
            <a:ext cx="12192000" cy="1799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4253" b="15909"/>
          <a:stretch>
            <a:fillRect/>
          </a:stretch>
        </p:blipFill>
        <p:spPr>
          <a:xfrm>
            <a:off x="3316771" y="788306"/>
            <a:ext cx="8179904" cy="5270215"/>
          </a:xfrm>
          <a:custGeom>
            <a:avLst/>
            <a:gdLst>
              <a:gd name="connsiteX0" fmla="*/ 0 w 2894062"/>
              <a:gd name="connsiteY0" fmla="*/ 0 h 5275802"/>
              <a:gd name="connsiteX1" fmla="*/ 2894062 w 2894062"/>
              <a:gd name="connsiteY1" fmla="*/ 0 h 5275802"/>
              <a:gd name="connsiteX2" fmla="*/ 2894062 w 2894062"/>
              <a:gd name="connsiteY2" fmla="*/ 5275802 h 5275802"/>
              <a:gd name="connsiteX3" fmla="*/ 0 w 2894062"/>
              <a:gd name="connsiteY3" fmla="*/ 5275802 h 527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4062" h="5275802">
                <a:moveTo>
                  <a:pt x="0" y="0"/>
                </a:moveTo>
                <a:lnTo>
                  <a:pt x="2894062" y="0"/>
                </a:lnTo>
                <a:lnTo>
                  <a:pt x="2894062" y="5275802"/>
                </a:lnTo>
                <a:lnTo>
                  <a:pt x="0" y="5275802"/>
                </a:lnTo>
                <a:close/>
              </a:path>
            </a:pathLst>
          </a:custGeom>
          <a:ln>
            <a:noFill/>
          </a:ln>
        </p:spPr>
      </p:pic>
      <p:sp>
        <p:nvSpPr>
          <p:cNvPr id="22" name="part"/>
          <p:cNvSpPr/>
          <p:nvPr/>
        </p:nvSpPr>
        <p:spPr>
          <a:xfrm>
            <a:off x="695325" y="785512"/>
            <a:ext cx="2428875" cy="527580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page"/>
          <p:cNvSpPr txBox="1"/>
          <p:nvPr/>
        </p:nvSpPr>
        <p:spPr>
          <a:xfrm>
            <a:off x="11460667" y="6385673"/>
            <a:ext cx="99386" cy="2154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48DBFAF-01A5-47DE-A33F-834723B47D4E}" type="slidenum">
              <a:rPr lang="ja-JP" altLang="en-US" sz="1400" b="1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</a:fld>
            <a:endParaRPr lang="ja-JP" altLang="en-US" sz="1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part"/>
          <p:cNvSpPr/>
          <p:nvPr/>
        </p:nvSpPr>
        <p:spPr>
          <a:xfrm flipH="1">
            <a:off x="1360733" y="2529238"/>
            <a:ext cx="1098058" cy="17883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90000" rIns="0" bIns="9000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>
              <a:lnSpc>
                <a:spcPct val="90000"/>
              </a:lnSpc>
            </a:pPr>
            <a:r>
              <a:rPr kumimoji="1"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Part</a:t>
            </a:r>
            <a:endParaRPr kumimoji="1"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>
              <a:lnSpc>
                <a:spcPct val="90000"/>
              </a:lnSpc>
            </a:pPr>
            <a:r>
              <a:rPr kumimoji="1" lang="en-US" altLang="zh-CN" sz="7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01</a:t>
            </a:r>
            <a:endParaRPr kumimoji="1" lang="en-US" altLang="zh-CN" sz="7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5325" y="748932"/>
            <a:ext cx="2428875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00990" y="2553901"/>
            <a:ext cx="6776444" cy="19259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4400" b="1"/>
              <a:t>Autonomous Robot Hardware Architecture</a:t>
            </a:r>
            <a:endParaRPr lang="en-US" altLang="zh-CN" sz="4400" b="1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79424" y="165838"/>
            <a:ext cx="11233151" cy="415290"/>
          </a:xfrm>
        </p:spPr>
        <p:txBody>
          <a:bodyPr/>
          <a:lstStyle/>
          <a:p>
            <a:r>
              <a:rPr lang="en-US" altLang="zh-CN"/>
              <a:t>Design Process</a:t>
            </a:r>
            <a:endParaRPr lang="en-US" altLang="zh-CN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75" y="1254262"/>
            <a:ext cx="11940808" cy="4496412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79424" y="165838"/>
            <a:ext cx="11233151" cy="415290"/>
          </a:xfrm>
        </p:spPr>
        <p:txBody>
          <a:bodyPr/>
          <a:p>
            <a:r>
              <a:rPr lang="en-US" altLang="zh-CN"/>
              <a:t>Hardware Architecture</a:t>
            </a:r>
            <a:endParaRPr lang="en-US" altLang="zh-CN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9748" y="860094"/>
            <a:ext cx="4584952" cy="1953323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 sz="3200" b="1">
                <a:solidFill>
                  <a:schemeClr val="accent4"/>
                </a:solidFill>
              </a:rPr>
              <a:t>1.1</a:t>
            </a:r>
            <a:r>
              <a:rPr lang="en-US" altLang="zh-CN" sz="3200">
                <a:solidFill>
                  <a:schemeClr val="accent4"/>
                </a:solidFill>
              </a:rPr>
              <a:t> </a:t>
            </a:r>
            <a:r>
              <a:rPr lang="en-US" altLang="zh-CN" sz="3200" b="1">
                <a:solidFill>
                  <a:schemeClr val="accent4"/>
                </a:solidFill>
              </a:rPr>
              <a:t>Main Controller</a:t>
            </a:r>
            <a:endParaRPr lang="en-US" altLang="zh-CN" sz="3200" b="1">
              <a:solidFill>
                <a:schemeClr val="accent4"/>
              </a:solidFill>
            </a:endParaRPr>
          </a:p>
          <a:p>
            <a:pPr algn="l"/>
            <a:r>
              <a:rPr lang="en-US" altLang="zh-CN"/>
              <a:t>STM32 Microcontroller - Core Processing Unit</a:t>
            </a:r>
            <a:endParaRPr lang="en-US" altLang="zh-CN"/>
          </a:p>
          <a:p>
            <a:pPr algn="l"/>
            <a:r>
              <a:rPr lang="en-US" altLang="zh-CN"/>
              <a:t>FreeRTOS RTOS - Real-time Multi-tasking</a:t>
            </a:r>
            <a:endParaRPr lang="en-US" altLang="zh-CN"/>
          </a:p>
          <a:p>
            <a:pPr algn="l"/>
            <a:endParaRPr lang="en-US" altLang="zh-CN"/>
          </a:p>
          <a:p>
            <a:pPr algn="l"/>
            <a:r>
              <a:rPr lang="en-US" altLang="zh-CN" b="1"/>
              <a:t>Task Priority Management:</a:t>
            </a:r>
            <a:endParaRPr lang="en-US" altLang="zh-CN"/>
          </a:p>
          <a:p>
            <a:pPr algn="l"/>
            <a:r>
              <a:rPr lang="en-US" altLang="zh-CN"/>
              <a:t>Priority 4 (Highest): Bluetooth Control, Motor Control</a:t>
            </a:r>
            <a:endParaRPr lang="en-US" altLang="zh-CN"/>
          </a:p>
          <a:p>
            <a:pPr algn="l"/>
            <a:r>
              <a:rPr lang="en-US" altLang="zh-CN"/>
              <a:t>Priority 3 (High): IMU Data Acquisition, LiDAR Processing</a:t>
            </a:r>
            <a:endParaRPr lang="en-US" altLang="zh-CN"/>
          </a:p>
          <a:p>
            <a:pPr algn="l"/>
            <a:r>
              <a:rPr lang="en-US" altLang="zh-CN"/>
              <a:t>Priority 1-2 (Medium/Low): Auxiliary Tasks</a:t>
            </a:r>
            <a:endParaRPr lang="en-US" altLang="zh-CN"/>
          </a:p>
        </p:txBody>
      </p:sp>
      <p:sp>
        <p:nvSpPr>
          <p:cNvPr id="8" name="文本框 7"/>
          <p:cNvSpPr txBox="1"/>
          <p:nvPr userDrawn="1"/>
        </p:nvSpPr>
        <p:spPr>
          <a:xfrm>
            <a:off x="5283183" y="860129"/>
            <a:ext cx="6745610" cy="3184191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 sz="3200" b="1">
                <a:solidFill>
                  <a:schemeClr val="accent4"/>
                </a:solidFill>
              </a:rPr>
              <a:t>1.2 Sensor System</a:t>
            </a:r>
            <a:endParaRPr lang="en-US" altLang="zh-CN" sz="3200" b="1">
              <a:solidFill>
                <a:schemeClr val="accent4"/>
              </a:solidFill>
            </a:endParaRPr>
          </a:p>
          <a:p>
            <a:pPr algn="l"/>
            <a:r>
              <a:rPr lang="en-US" altLang="zh-CN" b="1"/>
              <a:t>RPLidar C1 Laser Radar</a:t>
            </a:r>
            <a:endParaRPr lang="en-US" altLang="zh-CN" b="1"/>
          </a:p>
          <a:p>
            <a:pPr algn="l"/>
            <a:r>
              <a:rPr lang="en-US" altLang="zh-CN"/>
              <a:t>Scan Rate: 10Hz</a:t>
            </a:r>
            <a:endParaRPr lang="en-US" altLang="zh-CN"/>
          </a:p>
          <a:p>
            <a:pPr algn="l"/>
            <a:r>
              <a:rPr lang="en-US" altLang="zh-CN"/>
              <a:t>Range: 0.1-3.5m</a:t>
            </a:r>
            <a:endParaRPr lang="en-US" altLang="zh-CN"/>
          </a:p>
          <a:p>
            <a:pPr algn="l"/>
            <a:r>
              <a:rPr lang="en-US" altLang="zh-CN"/>
              <a:t>Resolution: 360</a:t>
            </a:r>
            <a:r>
              <a:rPr lang="en-US" altLang="en-US"/>
              <a:t>°</a:t>
            </a:r>
            <a:r>
              <a:rPr lang="en-US" altLang="zh-CN"/>
              <a:t>/rotation</a:t>
            </a:r>
            <a:endParaRPr lang="en-US" altLang="zh-CN"/>
          </a:p>
          <a:p>
            <a:pPr algn="l"/>
            <a:r>
              <a:rPr lang="en-US" altLang="zh-CN"/>
              <a:t>Protocol: Custom Binary</a:t>
            </a:r>
            <a:endParaRPr lang="en-US" altLang="zh-CN"/>
          </a:p>
          <a:p>
            <a:pPr algn="l"/>
            <a:r>
              <a:rPr lang="en-US" altLang="zh-CN" b="1"/>
              <a:t>IM948 9-Axis IMU</a:t>
            </a:r>
            <a:endParaRPr lang="en-US" altLang="zh-CN" b="1"/>
          </a:p>
          <a:p>
            <a:pPr algn="l"/>
            <a:r>
              <a:rPr lang="en-US" altLang="zh-CN"/>
              <a:t>Update Rate: 250Hz</a:t>
            </a:r>
            <a:endParaRPr lang="en-US" altLang="zh-CN"/>
          </a:p>
          <a:p>
            <a:pPr algn="l"/>
            <a:r>
              <a:rPr lang="en-US" altLang="zh-CN"/>
              <a:t>Data Output: Euler Angles, Spatial Displacement, Quaternions</a:t>
            </a:r>
            <a:endParaRPr lang="en-US" altLang="zh-CN"/>
          </a:p>
          <a:p>
            <a:pPr algn="l"/>
            <a:r>
              <a:rPr lang="en-US" altLang="zh-CN"/>
              <a:t>Feature: Magnetometer Fusion</a:t>
            </a:r>
            <a:endParaRPr lang="en-US" altLang="zh-CN"/>
          </a:p>
          <a:p>
            <a:pPr algn="l"/>
            <a:r>
              <a:rPr lang="en-US" altLang="zh-CN" b="1"/>
              <a:t>Encoder System</a:t>
            </a:r>
            <a:endParaRPr lang="en-US" altLang="zh-CN" b="1"/>
          </a:p>
          <a:p>
            <a:pPr algn="l"/>
            <a:r>
              <a:rPr lang="en-US" altLang="zh-CN"/>
              <a:t>Independent Wheel Encoders</a:t>
            </a:r>
            <a:endParaRPr lang="en-US" altLang="zh-CN"/>
          </a:p>
          <a:p>
            <a:pPr algn="l"/>
            <a:r>
              <a:rPr lang="en-US" altLang="zh-CN"/>
              <a:t>390 Pulses/Revolution (13 lines </a:t>
            </a:r>
            <a:r>
              <a:rPr lang="en-US" altLang="en-US"/>
              <a:t>×</a:t>
            </a:r>
            <a:r>
              <a:rPr lang="en-US" altLang="zh-CN"/>
              <a:t> 30 ratio)</a:t>
            </a:r>
            <a:endParaRPr lang="en-US" altLang="zh-CN"/>
          </a:p>
          <a:p>
            <a:pPr algn="l"/>
            <a:r>
              <a:rPr lang="en-US" altLang="zh-CN"/>
              <a:t>Interrupt-driven Counting</a:t>
            </a:r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309812" y="4187528"/>
            <a:ext cx="5490845" cy="224536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 sz="3200" b="1">
                <a:solidFill>
                  <a:schemeClr val="accent4"/>
                </a:solidFill>
              </a:rPr>
              <a:t>1.3 Communication System</a:t>
            </a:r>
            <a:endParaRPr lang="en-US" altLang="zh-CN" sz="3200" b="1">
              <a:solidFill>
                <a:schemeClr val="accent4"/>
              </a:solidFill>
            </a:endParaRPr>
          </a:p>
          <a:p>
            <a:pPr algn="l"/>
            <a:r>
              <a:rPr lang="en-US" altLang="zh-CN" b="1"/>
              <a:t>HC-04 Bluetooth</a:t>
            </a:r>
            <a:r>
              <a:rPr lang="en-US" altLang="zh-CN"/>
              <a:t>: 921600 Baud Rate</a:t>
            </a:r>
            <a:endParaRPr lang="en-US" altLang="zh-CN"/>
          </a:p>
          <a:p>
            <a:pPr algn="l"/>
            <a:r>
              <a:rPr lang="en-US" altLang="zh-CN" b="1"/>
              <a:t>Multi-UART Architecture</a:t>
            </a:r>
            <a:r>
              <a:rPr lang="en-US" altLang="zh-CN"/>
              <a:t>:</a:t>
            </a:r>
            <a:endParaRPr lang="en-US" altLang="zh-CN"/>
          </a:p>
          <a:p>
            <a:pPr algn="l"/>
            <a:endParaRPr lang="en-US" altLang="zh-CN"/>
          </a:p>
          <a:p>
            <a:pPr algn="l"/>
            <a:r>
              <a:rPr lang="en-US" altLang="zh-CN"/>
              <a:t>Bluetooth: Host Communication</a:t>
            </a:r>
            <a:endParaRPr lang="en-US" altLang="zh-CN"/>
          </a:p>
          <a:p>
            <a:pPr algn="l"/>
            <a:r>
              <a:rPr lang="en-US" altLang="zh-CN"/>
              <a:t>IMU: Sensor Data</a:t>
            </a:r>
            <a:endParaRPr lang="en-US" altLang="zh-CN"/>
          </a:p>
          <a:p>
            <a:pPr algn="l"/>
            <a:r>
              <a:rPr lang="en-US" altLang="zh-CN"/>
              <a:t>LiDAR: Scan Data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5058701"/>
            <a:ext cx="12192000" cy="1799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4253" b="15909"/>
          <a:stretch>
            <a:fillRect/>
          </a:stretch>
        </p:blipFill>
        <p:spPr>
          <a:xfrm>
            <a:off x="3316771" y="788306"/>
            <a:ext cx="8179904" cy="5270215"/>
          </a:xfrm>
          <a:custGeom>
            <a:avLst/>
            <a:gdLst>
              <a:gd name="connsiteX0" fmla="*/ 0 w 2894062"/>
              <a:gd name="connsiteY0" fmla="*/ 0 h 5275802"/>
              <a:gd name="connsiteX1" fmla="*/ 2894062 w 2894062"/>
              <a:gd name="connsiteY1" fmla="*/ 0 h 5275802"/>
              <a:gd name="connsiteX2" fmla="*/ 2894062 w 2894062"/>
              <a:gd name="connsiteY2" fmla="*/ 5275802 h 5275802"/>
              <a:gd name="connsiteX3" fmla="*/ 0 w 2894062"/>
              <a:gd name="connsiteY3" fmla="*/ 5275802 h 527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4062" h="5275802">
                <a:moveTo>
                  <a:pt x="0" y="0"/>
                </a:moveTo>
                <a:lnTo>
                  <a:pt x="2894062" y="0"/>
                </a:lnTo>
                <a:lnTo>
                  <a:pt x="2894062" y="5275802"/>
                </a:lnTo>
                <a:lnTo>
                  <a:pt x="0" y="5275802"/>
                </a:lnTo>
                <a:close/>
              </a:path>
            </a:pathLst>
          </a:custGeom>
          <a:ln>
            <a:noFill/>
          </a:ln>
        </p:spPr>
      </p:pic>
      <p:sp>
        <p:nvSpPr>
          <p:cNvPr id="22" name="part"/>
          <p:cNvSpPr/>
          <p:nvPr/>
        </p:nvSpPr>
        <p:spPr>
          <a:xfrm>
            <a:off x="695325" y="785512"/>
            <a:ext cx="2428875" cy="527580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page"/>
          <p:cNvSpPr txBox="1"/>
          <p:nvPr/>
        </p:nvSpPr>
        <p:spPr>
          <a:xfrm>
            <a:off x="11460667" y="6385673"/>
            <a:ext cx="99386" cy="2154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48DBFAF-01A5-47DE-A33F-834723B47D4E}" type="slidenum">
              <a:rPr lang="ja-JP" altLang="en-US" sz="1400" b="1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</a:fld>
            <a:endParaRPr lang="ja-JP" altLang="en-US" sz="1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part"/>
          <p:cNvSpPr/>
          <p:nvPr/>
        </p:nvSpPr>
        <p:spPr>
          <a:xfrm flipH="1">
            <a:off x="1366520" y="2532604"/>
            <a:ext cx="1086485" cy="17849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90000" rIns="0" bIns="9000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>
              <a:lnSpc>
                <a:spcPct val="90000"/>
              </a:lnSpc>
            </a:pPr>
            <a:r>
              <a:rPr kumimoji="1"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Part</a:t>
            </a:r>
            <a:endParaRPr kumimoji="1"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>
              <a:lnSpc>
                <a:spcPct val="90000"/>
              </a:lnSpc>
            </a:pPr>
            <a:r>
              <a:rPr kumimoji="1" lang="en-US" altLang="zh-CN" sz="7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02</a:t>
            </a:r>
            <a:endParaRPr kumimoji="1" lang="en-US" altLang="zh-CN" sz="7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5325" y="748932"/>
            <a:ext cx="2428875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4113" y="3132653"/>
            <a:ext cx="6776444" cy="19259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4400" b="1"/>
              <a:t>Firmware Technical Details</a:t>
            </a:r>
            <a:endParaRPr lang="en-US" altLang="zh-CN" sz="4400" b="1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4" y="380988"/>
            <a:ext cx="11233151" cy="415498"/>
          </a:xfrm>
        </p:spPr>
        <p:txBody>
          <a:bodyPr/>
          <a:p>
            <a:r>
              <a:rPr lang="en-US" altLang="zh-CN"/>
              <a:t>LiDAR Module (LidarModule.h)</a:t>
            </a:r>
            <a:br>
              <a:rPr lang="en-US" altLang="zh-CN"/>
            </a:br>
            <a:endParaRPr lang="en-US" altLang="zh-CN"/>
          </a:p>
        </p:txBody>
      </p:sp>
      <p:sp>
        <p:nvSpPr>
          <p:cNvPr id="3" name="文本框 2"/>
          <p:cNvSpPr txBox="1"/>
          <p:nvPr userDrawn="1"/>
        </p:nvSpPr>
        <p:spPr>
          <a:xfrm>
            <a:off x="909385" y="1112467"/>
            <a:ext cx="10019045" cy="5745575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 sz="2800" b="1">
                <a:solidFill>
                  <a:schemeClr val="accent4"/>
                </a:solidFill>
              </a:rPr>
              <a:t>Core Functions</a:t>
            </a:r>
            <a:endParaRPr lang="en-US" altLang="zh-CN" sz="2800" b="1">
              <a:solidFill>
                <a:schemeClr val="accent4"/>
              </a:solidFill>
            </a:endParaRPr>
          </a:p>
          <a:p>
            <a:pPr algn="l"/>
            <a:r>
              <a:rPr lang="en-US" altLang="zh-CN" b="1"/>
              <a:t>Data Packet Parsing</a:t>
            </a:r>
            <a:r>
              <a:rPr lang="en-US" altLang="zh-CN"/>
              <a:t>: 5-byte RPLidar protocol parsing</a:t>
            </a:r>
            <a:endParaRPr lang="en-US" altLang="zh-CN"/>
          </a:p>
          <a:p>
            <a:pPr algn="l"/>
            <a:r>
              <a:rPr lang="en-US" altLang="zh-CN" b="1"/>
              <a:t>Quality Filtering</a:t>
            </a:r>
            <a:r>
              <a:rPr lang="en-US" altLang="zh-CN"/>
              <a:t>: Filter low-quality points (quality &lt; 5)</a:t>
            </a:r>
            <a:endParaRPr lang="en-US" altLang="zh-CN"/>
          </a:p>
          <a:p>
            <a:pPr algn="l"/>
            <a:r>
              <a:rPr lang="en-US" altLang="zh-CN" b="1"/>
              <a:t>Distance Correction</a:t>
            </a:r>
            <a:r>
              <a:rPr lang="en-US" altLang="zh-CN"/>
              <a:t>:</a:t>
            </a:r>
            <a:endParaRPr lang="en-US" altLang="zh-CN"/>
          </a:p>
          <a:p>
            <a:pPr algn="l"/>
            <a:r>
              <a:rPr lang="en-US" altLang="zh-CN"/>
              <a:t>Linear scaling factor: 0.79</a:t>
            </a:r>
            <a:endParaRPr lang="en-US" altLang="zh-CN"/>
          </a:p>
          <a:p>
            <a:pPr algn="l"/>
            <a:r>
              <a:rPr lang="en-US" altLang="zh-CN"/>
              <a:t>Non-linear close-range correction: Correct distortion within 0.5m</a:t>
            </a:r>
            <a:endParaRPr lang="en-US" altLang="zh-CN"/>
          </a:p>
          <a:p>
            <a:pPr algn="l"/>
            <a:r>
              <a:rPr lang="en-US" altLang="zh-CN" b="1"/>
              <a:t>Data Fusion</a:t>
            </a:r>
            <a:r>
              <a:rPr lang="en-US" altLang="zh-CN"/>
              <a:t>: LiDAR data and odometry data fusion transmission</a:t>
            </a:r>
            <a:endParaRPr lang="en-US" altLang="zh-CN"/>
          </a:p>
          <a:p>
            <a:pPr algn="l"/>
            <a:r>
              <a:rPr lang="en-US" altLang="zh-CN" sz="2800" b="1">
                <a:solidFill>
                  <a:schemeClr val="accent4"/>
                </a:solidFill>
              </a:rPr>
              <a:t>Technical Features</a:t>
            </a:r>
            <a:endParaRPr lang="en-US" altLang="zh-CN" b="1"/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// Data packet structure (18 bytes)</a:t>
            </a:r>
            <a:endParaRPr lang="en-US" alt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struct BluetoothLidarPacket {    uint16_t header;        		// 0xAA55    uint32_t angle_deg_q8;  	// Angle × 256    uint16_t distance_mm;   	// Distance (mm)    uint8_t  quality;       		// Quality (0-63)    int16_t  odom_x_cm;     	// Odometry X (cm)    int16_t  odom_y_cm;     		// Odometry Y (cm)    int32_t  odom_theta_deg_q8; 	// Orientation × 256    uint8_t  checksum;      			// XOR checksum</a:t>
            </a:r>
            <a:endParaRPr lang="en-US" altLang="zh-CN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};</a:t>
            </a:r>
            <a:endParaRPr lang="en-US" altLang="zh-CN"/>
          </a:p>
        </p:txBody>
      </p:sp>
      <p:pic>
        <p:nvPicPr>
          <p:cNvPr id="5" name="图片 4" descr="post_object_image_13943853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3358" y="3429184"/>
            <a:ext cx="6006811" cy="2021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4" y="165838"/>
            <a:ext cx="11233151" cy="415290"/>
          </a:xfrm>
        </p:spPr>
        <p:txBody>
          <a:bodyPr/>
          <a:p>
            <a:r>
              <a:rPr lang="en-US" altLang="zh-CN"/>
              <a:t>Motor Control Module (MotorControl.h)</a:t>
            </a:r>
            <a:endParaRPr lang="en-US" altLang="zh-CN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6383" y="1020215"/>
            <a:ext cx="5472641" cy="464831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3600" b="1">
                <a:solidFill>
                  <a:schemeClr val="accent4"/>
                </a:solidFill>
              </a:rPr>
              <a:t>PID Control System</a:t>
            </a:r>
            <a:endParaRPr lang="en-US" altLang="zh-CN" sz="3600" b="1">
              <a:solidFill>
                <a:schemeClr val="accent4"/>
              </a:solidFill>
            </a:endParaRPr>
          </a:p>
          <a:p>
            <a:r>
              <a:rPr lang="en-US" altLang="zh-CN" sz="2400" b="1"/>
              <a:t>Three</a:t>
            </a:r>
            <a:r>
              <a:rPr lang="zh-CN" altLang="en-US" sz="2400" b="1"/>
              <a:t>-</a:t>
            </a:r>
            <a:r>
              <a:rPr lang="en-US" altLang="zh-CN" sz="2400" b="1"/>
              <a:t>Layer PID Architecture</a:t>
            </a:r>
            <a:endParaRPr lang="en-US" altLang="zh-CN" sz="2400" b="1"/>
          </a:p>
          <a:p>
            <a:r>
              <a:rPr lang="en-US" altLang="zh-CN"/>
              <a:t>Heading Loop: Angle Error → Target Speed Difference</a:t>
            </a:r>
            <a:endParaRPr lang="en-US" altLang="zh-CN"/>
          </a:p>
          <a:p>
            <a:r>
              <a:rPr lang="en-US" altLang="zh-CN"/>
              <a:t>Speed Difference Loop: Speed Difference → Duty Cycle DifferenceSteering Loop: Angle Error → Duty Cycle</a:t>
            </a:r>
            <a:endParaRPr lang="en-US" altLang="zh-CN"/>
          </a:p>
          <a:p>
            <a:r>
              <a:rPr lang="en-US" altLang="zh-CN" sz="2400" b="1"/>
              <a:t>PID Parameters</a:t>
            </a:r>
            <a:endParaRPr lang="en-US" altLang="zh-CN" sz="2400" b="1"/>
          </a:p>
          <a:p>
            <a:r>
              <a:rPr lang="en-US" altLang="zh-CN"/>
              <a:t>cpp</a:t>
            </a:r>
            <a:endParaRPr lang="en-US" altLang="zh-CN"/>
          </a:p>
          <a:p>
            <a:r>
              <a:rPr lang="en-US" altLang="zh-CN"/>
              <a:t>// Heading Loop</a:t>
            </a:r>
            <a:endParaRPr lang="en-US" altLang="zh-CN"/>
          </a:p>
          <a:p>
            <a:r>
              <a:rPr lang="zh-CN" altLang="en-US"/>
              <a:t>#</a:t>
            </a:r>
            <a:r>
              <a:rPr lang="en-US" altLang="zh-CN"/>
              <a:t>define KH_P 2.0, KH_I 0.0, KH_D 0.1</a:t>
            </a:r>
            <a:endParaRPr lang="en-US" altLang="zh-CN"/>
          </a:p>
          <a:p>
            <a:r>
              <a:rPr lang="en-US" altLang="zh-CN"/>
              <a:t>// Speed Difference Loop  </a:t>
            </a:r>
            <a:endParaRPr lang="en-US" altLang="zh-CN"/>
          </a:p>
          <a:p>
            <a:r>
              <a:rPr lang="zh-CN" altLang="en-US"/>
              <a:t>#</a:t>
            </a:r>
            <a:r>
              <a:rPr lang="en-US" altLang="zh-CN"/>
              <a:t>define KV_P 3.0, KV_I 0.0, KV_D 0.1</a:t>
            </a:r>
            <a:endParaRPr lang="en-US" altLang="zh-CN"/>
          </a:p>
          <a:p>
            <a:r>
              <a:rPr lang="en-US" altLang="zh-CN"/>
              <a:t>// Steering Loop</a:t>
            </a:r>
            <a:endParaRPr lang="en-US" altLang="zh-CN"/>
          </a:p>
          <a:p>
            <a:r>
              <a:rPr lang="zh-CN" altLang="en-US"/>
              <a:t>#</a:t>
            </a:r>
            <a:r>
              <a:rPr lang="en-US" altLang="zh-CN"/>
              <a:t>define KT_P 0.4, KT_I 0.0, KT_D 10.0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文本框 3"/>
          <p:cNvSpPr txBox="1"/>
          <p:nvPr userDrawn="1"/>
        </p:nvSpPr>
        <p:spPr>
          <a:xfrm>
            <a:off x="6363902" y="1020176"/>
            <a:ext cx="5453380" cy="27686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 sz="2400" b="1"/>
              <a:t>Motion Control Modes</a:t>
            </a:r>
            <a:endParaRPr lang="en-US" altLang="zh-CN" sz="2400" b="1"/>
          </a:p>
          <a:p>
            <a:pPr algn="l"/>
            <a:r>
              <a:rPr lang="en-US" altLang="zh-CN"/>
              <a:t>Control Strategies</a:t>
            </a:r>
            <a:endParaRPr lang="en-US" altLang="zh-CN"/>
          </a:p>
          <a:p>
            <a:pPr algn="l"/>
            <a:r>
              <a:rPr lang="en-US" altLang="zh-CN"/>
              <a:t>Open-Loop Control: Basic direction control</a:t>
            </a:r>
            <a:endParaRPr lang="en-US" altLang="zh-CN"/>
          </a:p>
          <a:p>
            <a:pPr algn="l"/>
            <a:r>
              <a:rPr lang="en-US" altLang="zh-CN"/>
              <a:t>Closed-Loop Control: Precise distance/angle control</a:t>
            </a:r>
            <a:endParaRPr lang="en-US" altLang="zh-CN"/>
          </a:p>
          <a:p>
            <a:pPr algn="l"/>
            <a:endParaRPr lang="en-US" altLang="zh-CN"/>
          </a:p>
          <a:p>
            <a:pPr algn="l"/>
            <a:r>
              <a:rPr lang="en-US" altLang="zh-CN" sz="2400" b="1"/>
              <a:t>Precision Commands</a:t>
            </a:r>
            <a:endParaRPr lang="en-US" altLang="zh-CN" sz="2400" b="1"/>
          </a:p>
          <a:p>
            <a:pPr algn="l"/>
            <a:r>
              <a:rPr lang="en-US" altLang="zh-CN"/>
              <a:t>F50: Forward 50cm</a:t>
            </a:r>
            <a:endParaRPr lang="en-US" altLang="zh-CN"/>
          </a:p>
          <a:p>
            <a:pPr algn="l"/>
            <a:r>
              <a:rPr lang="en-US" altLang="zh-CN"/>
              <a:t>L90: Turn left 90</a:t>
            </a:r>
            <a:r>
              <a:rPr lang="en-US" altLang="en-US"/>
              <a:t>°</a:t>
            </a:r>
            <a:endParaRPr lang="en-US" altLang="en-US"/>
          </a:p>
          <a:p>
            <a:pPr algn="l"/>
            <a:r>
              <a:rPr lang="en-US" altLang="zh-CN"/>
              <a:t>R45: Turn right 45</a:t>
            </a:r>
            <a:r>
              <a:rPr lang="en-US" altLang="en-US"/>
              <a:t>°</a:t>
            </a:r>
            <a:endParaRPr lang="zh-CN" altLang="en-US"/>
          </a:p>
        </p:txBody>
      </p:sp>
      <p:pic>
        <p:nvPicPr>
          <p:cNvPr id="5" name="图片 4" descr="post_object_image_21026334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345" y="3505511"/>
            <a:ext cx="3791308" cy="29493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4" y="165838"/>
            <a:ext cx="11233151" cy="415290"/>
          </a:xfrm>
        </p:spPr>
        <p:txBody>
          <a:bodyPr/>
          <a:p>
            <a:r>
              <a:rPr lang="en-US" altLang="zh-CN"/>
              <a:t>Encoder Odometry Module (EncoderModule.h)</a:t>
            </a:r>
            <a:endParaRPr lang="en-US" altLang="zh-CN"/>
          </a:p>
        </p:txBody>
      </p:sp>
      <p:sp>
        <p:nvSpPr>
          <p:cNvPr id="3" name="文本框 2"/>
          <p:cNvSpPr txBox="1"/>
          <p:nvPr userDrawn="1"/>
        </p:nvSpPr>
        <p:spPr>
          <a:xfrm>
            <a:off x="1303416" y="747793"/>
            <a:ext cx="8775700" cy="587756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 sz="2800" b="1">
                <a:solidFill>
                  <a:schemeClr val="accent4"/>
                </a:solidFill>
              </a:rPr>
              <a:t>Differential Wheel Odometry Algorithm</a:t>
            </a:r>
            <a:endParaRPr lang="en-US" altLang="zh-CN" sz="2800" b="1">
              <a:solidFill>
                <a:schemeClr val="accent4"/>
              </a:solidFill>
            </a:endParaRPr>
          </a:p>
          <a:p>
            <a:pPr algn="l"/>
            <a:r>
              <a:rPr lang="en-US" altLang="zh-CN" sz="2800" b="1"/>
              <a:t>Physical Parameters</a:t>
            </a:r>
            <a:endParaRPr lang="en-US" altLang="zh-CN" sz="2800" b="1"/>
          </a:p>
          <a:p>
            <a:pPr algn="l"/>
            <a:r>
              <a:rPr lang="en-US" altLang="zh-CN"/>
              <a:t>cpp</a:t>
            </a:r>
            <a:endParaRPr lang="en-US" altLang="zh-CN"/>
          </a:p>
          <a:p>
            <a:pPr algn="l"/>
            <a:r>
              <a:rPr lang="en-US" altLang="zh-CN"/>
              <a:t>#define WHEEL_DIAMETER 0.065   // Wheel diameter 65mm</a:t>
            </a:r>
            <a:endParaRPr lang="en-US" altLang="zh-CN"/>
          </a:p>
          <a:p>
            <a:pPr algn="l"/>
            <a:r>
              <a:rPr lang="en-US" altLang="zh-CN"/>
              <a:t>#define WHEEL_BASE 0.100       // Wheel base 100mm</a:t>
            </a:r>
            <a:endParaRPr lang="en-US" altLang="zh-CN"/>
          </a:p>
          <a:p>
            <a:pPr algn="l"/>
            <a:r>
              <a:rPr lang="en-US" altLang="zh-CN"/>
              <a:t>#define TICKS_PER_REV 390      // Pulses per revolution</a:t>
            </a:r>
            <a:endParaRPr lang="en-US" altLang="zh-CN"/>
          </a:p>
          <a:p>
            <a:pPr algn="l"/>
            <a:r>
              <a:rPr lang="en-US" altLang="zh-CN"/>
              <a:t>#define ENCODER_SCALE_FACTOR 0.534  // Accuracy correction factor</a:t>
            </a:r>
            <a:endParaRPr lang="en-US" altLang="zh-CN"/>
          </a:p>
          <a:p>
            <a:pPr algn="l"/>
            <a:endParaRPr lang="en-US" altLang="zh-CN" sz="2800" b="1">
              <a:solidFill>
                <a:schemeClr val="accent4"/>
              </a:solidFill>
            </a:endParaRPr>
          </a:p>
          <a:p>
            <a:pPr algn="l"/>
            <a:endParaRPr lang="en-US" altLang="zh-CN" sz="2800" b="1">
              <a:solidFill>
                <a:schemeClr val="accent4"/>
              </a:solidFill>
            </a:endParaRPr>
          </a:p>
          <a:p>
            <a:pPr algn="l"/>
            <a:endParaRPr lang="en-US" altLang="zh-CN" sz="2800" b="1">
              <a:solidFill>
                <a:schemeClr val="accent4"/>
              </a:solidFill>
            </a:endParaRPr>
          </a:p>
          <a:p>
            <a:pPr algn="l"/>
            <a:endParaRPr lang="en-US" altLang="zh-CN" sz="2800" b="1">
              <a:solidFill>
                <a:schemeClr val="accent4"/>
              </a:solidFill>
            </a:endParaRPr>
          </a:p>
          <a:p>
            <a:pPr algn="l"/>
            <a:r>
              <a:rPr lang="en-US" altLang="zh-CN" sz="2800" b="1">
                <a:solidFill>
                  <a:schemeClr val="accent4"/>
                </a:solidFill>
              </a:rPr>
              <a:t>Calculation Principle</a:t>
            </a:r>
            <a:endParaRPr lang="en-US" altLang="zh-CN" sz="2800" b="1">
              <a:solidFill>
                <a:schemeClr val="accent4"/>
              </a:solidFill>
            </a:endParaRPr>
          </a:p>
          <a:p>
            <a:pPr algn="l"/>
            <a:r>
              <a:rPr lang="en-US" altLang="zh-CN" b="1"/>
              <a:t>4-Step Processing Pipeline</a:t>
            </a:r>
            <a:endParaRPr lang="en-US" altLang="zh-CN" b="1"/>
          </a:p>
          <a:p>
            <a:pPr algn="l"/>
            <a:r>
              <a:rPr lang="en-US" altLang="zh-CN"/>
              <a:t>Read Encoder Increments - Capture pulse counts from both wheels</a:t>
            </a:r>
            <a:endParaRPr lang="en-US" altLang="zh-CN"/>
          </a:p>
          <a:p>
            <a:pPr algn="l"/>
            <a:r>
              <a:rPr lang="en-US" altLang="zh-CN"/>
              <a:t>Convert to Linear Distance - Transform pulses to actual wheel movement</a:t>
            </a:r>
            <a:endParaRPr lang="en-US" altLang="zh-CN"/>
          </a:p>
          <a:p>
            <a:pPr algn="l"/>
            <a:r>
              <a:rPr lang="en-US" altLang="zh-CN"/>
              <a:t>Differential Calculation - Compute robot center movement using differential drive kinematics</a:t>
            </a:r>
            <a:endParaRPr lang="en-US" altLang="zh-CN"/>
          </a:p>
          <a:p>
            <a:pPr algn="l"/>
            <a:r>
              <a:rPr lang="en-US" altLang="zh-CN"/>
              <a:t>World Coordinate Update - Combine with IMU orientation for global position tracking</a:t>
            </a:r>
            <a:endParaRPr lang="en-US" altLang="zh-CN"/>
          </a:p>
        </p:txBody>
      </p:sp>
      <p:pic>
        <p:nvPicPr>
          <p:cNvPr id="4" name="图片 3" descr="post_object_image_31349027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406" y="3041178"/>
            <a:ext cx="6371781" cy="16567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4" y="165838"/>
            <a:ext cx="11233151" cy="415290"/>
          </a:xfrm>
        </p:spPr>
        <p:txBody>
          <a:bodyPr/>
          <a:p>
            <a:r>
              <a:rPr lang="en-US" altLang="zh-CN"/>
              <a:t>IMU Data Processing (im948_CMD.h)</a:t>
            </a:r>
            <a:endParaRPr lang="en-US" altLang="zh-CN"/>
          </a:p>
        </p:txBody>
      </p:sp>
      <p:sp>
        <p:nvSpPr>
          <p:cNvPr id="3" name="文本框 2"/>
          <p:cNvSpPr txBox="1"/>
          <p:nvPr userDrawn="1"/>
        </p:nvSpPr>
        <p:spPr>
          <a:xfrm>
            <a:off x="1032387" y="1450724"/>
            <a:ext cx="6596380" cy="3569335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 sz="3200" b="1">
                <a:solidFill>
                  <a:schemeClr val="accent4"/>
                </a:solidFill>
              </a:rPr>
              <a:t>Data Fusion Strategy</a:t>
            </a:r>
            <a:endParaRPr lang="en-US" altLang="zh-CN" sz="3200" b="1">
              <a:solidFill>
                <a:schemeClr val="accent4"/>
              </a:solidFill>
            </a:endParaRPr>
          </a:p>
          <a:p>
            <a:pPr algn="l"/>
            <a:r>
              <a:rPr lang="en-US" altLang="zh-CN" sz="2000" b="1"/>
              <a:t>Multi-Sensor Integration</a:t>
            </a:r>
            <a:endParaRPr lang="en-US" altLang="zh-CN" sz="2000" b="1"/>
          </a:p>
          <a:p>
            <a:pPr algn="l"/>
            <a:r>
              <a:rPr lang="en-US" altLang="zh-CN"/>
              <a:t>Encoder Odometry: High-precision short-distance displacement</a:t>
            </a:r>
            <a:endParaRPr lang="en-US" altLang="zh-CN"/>
          </a:p>
          <a:p>
            <a:pPr algn="l"/>
            <a:r>
              <a:rPr lang="en-US" altLang="zh-CN"/>
              <a:t>IMU Orientation: Accurate angle information</a:t>
            </a:r>
            <a:endParaRPr lang="en-US" altLang="zh-CN"/>
          </a:p>
          <a:p>
            <a:pPr algn="l"/>
            <a:r>
              <a:rPr lang="en-US" altLang="zh-CN"/>
              <a:t>Timestamp Synchronization: 100-data point circular buffer</a:t>
            </a:r>
            <a:endParaRPr lang="en-US" altLang="zh-CN"/>
          </a:p>
          <a:p>
            <a:pPr algn="l"/>
            <a:endParaRPr lang="en-US" altLang="zh-CN"/>
          </a:p>
          <a:p>
            <a:pPr algn="l"/>
            <a:r>
              <a:rPr lang="en-US" altLang="zh-CN" sz="2800" b="1">
                <a:solidFill>
                  <a:schemeClr val="accent4"/>
                </a:solidFill>
              </a:rPr>
              <a:t>Independent Odom Transmission</a:t>
            </a:r>
            <a:endParaRPr lang="en-US" altLang="zh-CN" sz="2800" b="1">
              <a:solidFill>
                <a:schemeClr val="accent4"/>
              </a:solidFill>
            </a:endParaRPr>
          </a:p>
          <a:p>
            <a:pPr algn="l"/>
            <a:r>
              <a:rPr lang="en-US" altLang="zh-CN" sz="2000" b="1"/>
              <a:t>High-Performance Data Stream</a:t>
            </a:r>
            <a:endParaRPr lang="en-US" altLang="zh-CN" sz="2000" b="1"/>
          </a:p>
          <a:p>
            <a:pPr algn="l"/>
            <a:r>
              <a:rPr lang="en-US" altLang="zh-CN"/>
              <a:t>11-byte Independent Packet (0xBB55 header)</a:t>
            </a:r>
            <a:endParaRPr lang="en-US" altLang="zh-CN"/>
          </a:p>
          <a:p>
            <a:pPr algn="l"/>
            <a:r>
              <a:rPr lang="en-US" altLang="zh-CN"/>
              <a:t>250Hz High-Frequency Update</a:t>
            </a:r>
            <a:endParaRPr lang="en-US" altLang="zh-CN"/>
          </a:p>
          <a:p>
            <a:pPr algn="l"/>
            <a:r>
              <a:rPr lang="en-US" altLang="zh-CN"/>
              <a:t>Zero-Delay Pose Transmission</a:t>
            </a:r>
            <a:endParaRPr lang="en-US" altLang="zh-CN"/>
          </a:p>
        </p:txBody>
      </p:sp>
      <p:sp>
        <p:nvSpPr>
          <p:cNvPr id="4" name="文本框 3"/>
          <p:cNvSpPr txBox="1"/>
          <p:nvPr userDrawn="1"/>
        </p:nvSpPr>
        <p:spPr>
          <a:xfrm>
            <a:off x="571128" y="1712104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endParaRPr lang="zh-CN" altLang="en-US"/>
          </a:p>
        </p:txBody>
      </p:sp>
      <p:pic>
        <p:nvPicPr>
          <p:cNvPr id="5" name="图片 4" descr="post_object_image_28940618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02" y="1330317"/>
            <a:ext cx="781050" cy="876300"/>
          </a:xfrm>
          <a:prstGeom prst="rect">
            <a:avLst/>
          </a:prstGeom>
        </p:spPr>
      </p:pic>
      <p:pic>
        <p:nvPicPr>
          <p:cNvPr id="8" name="图片 7" descr="post_object_image_26178502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386" y="3344390"/>
            <a:ext cx="781050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5058701"/>
            <a:ext cx="12192000" cy="1799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4253" b="15909"/>
          <a:stretch>
            <a:fillRect/>
          </a:stretch>
        </p:blipFill>
        <p:spPr>
          <a:xfrm>
            <a:off x="3316771" y="788306"/>
            <a:ext cx="8179904" cy="5270215"/>
          </a:xfrm>
          <a:custGeom>
            <a:avLst/>
            <a:gdLst>
              <a:gd name="connsiteX0" fmla="*/ 0 w 2894062"/>
              <a:gd name="connsiteY0" fmla="*/ 0 h 5275802"/>
              <a:gd name="connsiteX1" fmla="*/ 2894062 w 2894062"/>
              <a:gd name="connsiteY1" fmla="*/ 0 h 5275802"/>
              <a:gd name="connsiteX2" fmla="*/ 2894062 w 2894062"/>
              <a:gd name="connsiteY2" fmla="*/ 5275802 h 5275802"/>
              <a:gd name="connsiteX3" fmla="*/ 0 w 2894062"/>
              <a:gd name="connsiteY3" fmla="*/ 5275802 h 527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4062" h="5275802">
                <a:moveTo>
                  <a:pt x="0" y="0"/>
                </a:moveTo>
                <a:lnTo>
                  <a:pt x="2894062" y="0"/>
                </a:lnTo>
                <a:lnTo>
                  <a:pt x="2894062" y="5275802"/>
                </a:lnTo>
                <a:lnTo>
                  <a:pt x="0" y="5275802"/>
                </a:lnTo>
                <a:close/>
              </a:path>
            </a:pathLst>
          </a:custGeom>
          <a:ln>
            <a:noFill/>
          </a:ln>
        </p:spPr>
      </p:pic>
      <p:sp>
        <p:nvSpPr>
          <p:cNvPr id="22" name="part"/>
          <p:cNvSpPr/>
          <p:nvPr/>
        </p:nvSpPr>
        <p:spPr>
          <a:xfrm>
            <a:off x="695325" y="785512"/>
            <a:ext cx="2428875" cy="527580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page"/>
          <p:cNvSpPr txBox="1"/>
          <p:nvPr/>
        </p:nvSpPr>
        <p:spPr>
          <a:xfrm>
            <a:off x="11460667" y="6385673"/>
            <a:ext cx="99386" cy="2154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48DBFAF-01A5-47DE-A33F-834723B47D4E}" type="slidenum">
              <a:rPr lang="ja-JP" altLang="en-US" sz="1400" b="1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</a:fld>
            <a:endParaRPr lang="ja-JP" altLang="en-US" sz="1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part"/>
          <p:cNvSpPr/>
          <p:nvPr/>
        </p:nvSpPr>
        <p:spPr>
          <a:xfrm flipH="1">
            <a:off x="1366520" y="2532604"/>
            <a:ext cx="1086485" cy="17849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90000" rIns="0" bIns="9000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>
              <a:lnSpc>
                <a:spcPct val="90000"/>
              </a:lnSpc>
            </a:pPr>
            <a:r>
              <a:rPr kumimoji="1"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Part</a:t>
            </a:r>
            <a:endParaRPr kumimoji="1"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>
              <a:lnSpc>
                <a:spcPct val="90000"/>
              </a:lnSpc>
            </a:pPr>
            <a:r>
              <a:rPr kumimoji="1" lang="en-US" altLang="zh-CN" sz="7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03</a:t>
            </a:r>
            <a:endParaRPr kumimoji="1" lang="en-US" altLang="zh-CN" sz="7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5325" y="748932"/>
            <a:ext cx="2428875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00990" y="2553901"/>
            <a:ext cx="6776444" cy="19259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400" b="1"/>
              <a:t>Upper-Lower Computer Collaboration Architecture</a:t>
            </a:r>
            <a:endParaRPr lang="en-US" altLang="zh-CN" sz="4400" b="1"/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79424" y="165838"/>
            <a:ext cx="11233151" cy="415290"/>
          </a:xfrm>
        </p:spPr>
        <p:txBody>
          <a:bodyPr/>
          <a:lstStyle/>
          <a:p>
            <a:r>
              <a:rPr lang="en-US" altLang="zh-CN"/>
              <a:t>Role Split: STM32 vs Python</a:t>
            </a:r>
            <a:endParaRPr lang="en-US" altLang="zh-CN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127496" y="2140855"/>
            <a:ext cx="4005149" cy="578663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 sz="2800">
                <a:solidFill>
                  <a:schemeClr val="accent4">
                    <a:lumMod val="60000"/>
                    <a:lumOff val="40000"/>
                  </a:schemeClr>
                </a:solidFill>
              </a:rPr>
              <a:t>Lower Computer (STM32)</a:t>
            </a:r>
            <a:endParaRPr lang="en-US" altLang="zh-CN" sz="28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127496" y="2692497"/>
            <a:ext cx="4205063" cy="3985578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 sz="2000" b="1"/>
              <a:t>Real-time Sensor Acquisition:</a:t>
            </a:r>
            <a:r>
              <a:rPr lang="en-US" altLang="zh-CN" sz="2000"/>
              <a:t>Collects raw data from IMU, LiDAR, and encoders.</a:t>
            </a:r>
            <a:endParaRPr lang="en-US" altLang="zh-CN" sz="2000"/>
          </a:p>
          <a:p>
            <a:pPr algn="l"/>
            <a:r>
              <a:rPr lang="en-US" altLang="zh-CN" sz="2000" b="1"/>
              <a:t>Motor PID Control: </a:t>
            </a:r>
            <a:r>
              <a:rPr lang="en-US" altLang="zh-CN" sz="2000"/>
              <a:t>Executes precise, real-time motion commands.</a:t>
            </a:r>
            <a:endParaRPr lang="en-US" altLang="zh-CN" sz="2000"/>
          </a:p>
          <a:p>
            <a:pPr algn="l"/>
            <a:r>
              <a:rPr lang="en-US" altLang="zh-CN" sz="2000" b="1"/>
              <a:t>Encoder Odometry:</a:t>
            </a:r>
            <a:r>
              <a:rPr lang="en-US" altLang="zh-CN" sz="2000"/>
              <a:t> Calculates robot's position and orientation.</a:t>
            </a:r>
            <a:endParaRPr lang="en-US" altLang="zh-CN" sz="2000"/>
          </a:p>
          <a:p>
            <a:pPr algn="l"/>
            <a:r>
              <a:rPr lang="en-US" altLang="zh-CN" sz="2000" b="1"/>
              <a:t>Bluetooth Communication: </a:t>
            </a:r>
            <a:r>
              <a:rPr lang="en-US" altLang="zh-CN" sz="2000"/>
              <a:t>Handles low-level data transmission and command responses.</a:t>
            </a:r>
            <a:endParaRPr lang="en-US" altLang="zh-CN" sz="200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79663" y="1638091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endParaRPr lang="zh-CN" altLang="en-US"/>
          </a:p>
        </p:txBody>
      </p:sp>
      <p:pic>
        <p:nvPicPr>
          <p:cNvPr id="16" name="图片 15" descr="post_object_image_13015755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85" y="1930918"/>
            <a:ext cx="777247" cy="904433"/>
          </a:xfrm>
          <a:prstGeom prst="rect">
            <a:avLst/>
          </a:prstGeom>
        </p:spPr>
      </p:pic>
      <p:pic>
        <p:nvPicPr>
          <p:cNvPr id="17" name="图片 16" descr="post_object_image_21197336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95" y="2140903"/>
            <a:ext cx="484385" cy="484385"/>
          </a:xfrm>
          <a:prstGeom prst="rect">
            <a:avLst/>
          </a:prstGeom>
        </p:spPr>
      </p:pic>
      <p:pic>
        <p:nvPicPr>
          <p:cNvPr id="19" name="图片 18" descr="post_object_image_328569739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657" y="3622770"/>
            <a:ext cx="1228725" cy="1228725"/>
          </a:xfrm>
          <a:prstGeom prst="rect">
            <a:avLst/>
          </a:prstGeom>
        </p:spPr>
      </p:pic>
      <p:pic>
        <p:nvPicPr>
          <p:cNvPr id="20" name="图片 19" descr="post_object_image_369827219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0174" y="1977981"/>
            <a:ext cx="756031" cy="904411"/>
          </a:xfrm>
          <a:prstGeom prst="rect">
            <a:avLst/>
          </a:prstGeom>
        </p:spPr>
      </p:pic>
      <p:pic>
        <p:nvPicPr>
          <p:cNvPr id="21" name="图片 20" descr="post_object_image_39846410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6727" y="2158724"/>
            <a:ext cx="542925" cy="542925"/>
          </a:xfrm>
          <a:prstGeom prst="rect">
            <a:avLst/>
          </a:prstGeom>
        </p:spPr>
      </p:pic>
      <p:sp>
        <p:nvSpPr>
          <p:cNvPr id="22" name="文本框 21"/>
          <p:cNvSpPr txBox="1"/>
          <p:nvPr userDrawn="1"/>
        </p:nvSpPr>
        <p:spPr>
          <a:xfrm>
            <a:off x="7811396" y="2199682"/>
            <a:ext cx="3672840" cy="46037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Upper Computer (Python)</a:t>
            </a:r>
            <a:endParaRPr lang="zh-CN" altLang="en-US" sz="24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7656216" y="2835351"/>
            <a:ext cx="3711395" cy="323417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000" b="1"/>
              <a:t>Live Visualization: </a:t>
            </a:r>
            <a:r>
              <a:rPr lang="en-US" altLang="zh-CN" sz="2000"/>
              <a:t>Renders sensor data and map in real</a:t>
            </a:r>
            <a:r>
              <a:rPr lang="zh-CN" altLang="en-US" sz="2000"/>
              <a:t>-</a:t>
            </a:r>
            <a:r>
              <a:rPr lang="en-US" altLang="zh-CN" sz="2000"/>
              <a:t>time.</a:t>
            </a:r>
            <a:endParaRPr lang="en-US" altLang="zh-CN" sz="2000"/>
          </a:p>
          <a:p>
            <a:r>
              <a:rPr lang="en-US" altLang="zh-CN" sz="2000" b="1"/>
              <a:t>SLAM Algorithm: </a:t>
            </a:r>
            <a:r>
              <a:rPr lang="en-US" altLang="zh-CN" sz="2000"/>
              <a:t>Constructs and updates the environment map.</a:t>
            </a:r>
            <a:endParaRPr lang="en-US" altLang="zh-CN" sz="2000"/>
          </a:p>
          <a:p>
            <a:r>
              <a:rPr lang="en-US" altLang="zh-CN" sz="2000" b="1"/>
              <a:t>Path Planning: </a:t>
            </a:r>
            <a:r>
              <a:rPr lang="en-US" altLang="zh-CN" sz="2000"/>
              <a:t>Makes high</a:t>
            </a:r>
            <a:r>
              <a:rPr lang="zh-CN" altLang="en-US" sz="2000"/>
              <a:t>-</a:t>
            </a:r>
            <a:r>
              <a:rPr lang="en-US" altLang="zh-CN" sz="2000"/>
              <a:t>level navigation decisions.</a:t>
            </a:r>
            <a:endParaRPr lang="en-US" altLang="zh-CN" sz="2000"/>
          </a:p>
          <a:p>
            <a:r>
              <a:rPr lang="en-US" altLang="zh-CN" sz="2000" b="1"/>
              <a:t>User Interface: </a:t>
            </a:r>
            <a:r>
              <a:rPr lang="en-US" altLang="zh-CN" sz="2000"/>
              <a:t>Provides controls for parameter tuning and robot command.</a:t>
            </a:r>
            <a:endParaRPr lang="zh-CN" altLang="en-US" sz="2000"/>
          </a:p>
        </p:txBody>
      </p:sp>
      <p:pic>
        <p:nvPicPr>
          <p:cNvPr id="25" name="图片 24" descr="post_object_image_17973483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724488"/>
            <a:ext cx="767128" cy="861447"/>
          </a:xfrm>
          <a:prstGeom prst="rect">
            <a:avLst/>
          </a:prstGeom>
        </p:spPr>
      </p:pic>
      <p:sp>
        <p:nvSpPr>
          <p:cNvPr id="26" name="文本框 25"/>
          <p:cNvSpPr txBox="1"/>
          <p:nvPr userDrawn="1"/>
        </p:nvSpPr>
        <p:spPr>
          <a:xfrm>
            <a:off x="2474363" y="900608"/>
            <a:ext cx="6935416" cy="519224"/>
          </a:xfrm>
          <a:prstGeom prst="rect">
            <a:avLst/>
          </a:prstGeom>
        </p:spPr>
        <p:txBody>
          <a:bodyPr wrap="square" rtlCol="0">
            <a:noAutofit/>
          </a:bodyPr>
          <a:p>
            <a:pPr algn="ctr"/>
            <a:r>
              <a:rPr lang="en-US" altLang="zh-CN" sz="2400" b="1"/>
              <a:t>A clean division of labor for a tightly coupled system.</a:t>
            </a:r>
            <a:endParaRPr lang="zh-CN" altLang="en-US" sz="2400" b="1"/>
          </a:p>
        </p:txBody>
      </p:sp>
    </p:spTree>
    <p:custDataLst>
      <p:tags r:id="rId8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79424" y="165839"/>
            <a:ext cx="11233151" cy="415290"/>
          </a:xfrm>
        </p:spPr>
        <p:txBody>
          <a:bodyPr/>
          <a:lstStyle/>
          <a:p>
            <a:r>
              <a:rPr lang="en-US" altLang="zh-CN"/>
              <a:t>Layered Data Flow Pipeline</a:t>
            </a:r>
            <a:endParaRPr lang="en-US" altLang="zh-CN"/>
          </a:p>
        </p:txBody>
      </p:sp>
      <p:sp>
        <p:nvSpPr>
          <p:cNvPr id="3" name="文本框 2"/>
          <p:cNvSpPr txBox="1"/>
          <p:nvPr userDrawn="1"/>
        </p:nvSpPr>
        <p:spPr>
          <a:xfrm>
            <a:off x="3242589" y="1348760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endParaRPr lang="zh-CN" altLang="en-US"/>
          </a:p>
        </p:txBody>
      </p:sp>
      <p:pic>
        <p:nvPicPr>
          <p:cNvPr id="5" name="图片 4" descr="post_object_image_6935564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1238"/>
            <a:ext cx="868957" cy="975796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716114" y="964560"/>
            <a:ext cx="9372202" cy="529201"/>
          </a:xfrm>
          <a:prstGeom prst="rect">
            <a:avLst/>
          </a:prstGeom>
        </p:spPr>
        <p:txBody>
          <a:bodyPr wrap="square" rtlCol="0">
            <a:noAutofit/>
          </a:bodyPr>
          <a:p>
            <a:pPr algn="ctr"/>
            <a:r>
              <a:rPr lang="en-US" altLang="zh-CN" sz="2400" b="1"/>
              <a:t>From raw sensors to actionable UI, a journey through the system's core.</a:t>
            </a:r>
            <a:endParaRPr lang="zh-CN" altLang="en-US" sz="2400" b="1"/>
          </a:p>
        </p:txBody>
      </p:sp>
      <p:pic>
        <p:nvPicPr>
          <p:cNvPr id="8" name="图片 7" descr="post_object_image_3931377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218" y="1717034"/>
            <a:ext cx="57150" cy="4800600"/>
          </a:xfrm>
          <a:prstGeom prst="rect">
            <a:avLst/>
          </a:prstGeom>
        </p:spPr>
      </p:pic>
      <p:pic>
        <p:nvPicPr>
          <p:cNvPr id="9" name="图片 8" descr="post_object_image_16847653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4347" y="1632628"/>
            <a:ext cx="527881" cy="527881"/>
          </a:xfrm>
          <a:prstGeom prst="rect">
            <a:avLst/>
          </a:prstGeom>
        </p:spPr>
      </p:pic>
      <p:pic>
        <p:nvPicPr>
          <p:cNvPr id="10" name="图片 9" descr="post_object_image_34424209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052" y="1740046"/>
            <a:ext cx="338399" cy="308973"/>
          </a:xfrm>
          <a:prstGeom prst="rect">
            <a:avLst/>
          </a:prstGeom>
        </p:spPr>
      </p:pic>
      <p:pic>
        <p:nvPicPr>
          <p:cNvPr id="11" name="图片 10" descr="post_object_image_1291943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271" y="2631135"/>
            <a:ext cx="527881" cy="527881"/>
          </a:xfrm>
          <a:prstGeom prst="rect">
            <a:avLst/>
          </a:prstGeom>
        </p:spPr>
      </p:pic>
      <p:pic>
        <p:nvPicPr>
          <p:cNvPr id="12" name="图片 11" descr="post_object_image_31011603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9281" y="2737030"/>
            <a:ext cx="316167" cy="316167"/>
          </a:xfrm>
          <a:prstGeom prst="rect">
            <a:avLst/>
          </a:prstGeom>
        </p:spPr>
      </p:pic>
      <p:pic>
        <p:nvPicPr>
          <p:cNvPr id="13" name="图片 12" descr="post_object_image_39508032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5222" y="3772786"/>
            <a:ext cx="527881" cy="527881"/>
          </a:xfrm>
          <a:prstGeom prst="rect">
            <a:avLst/>
          </a:prstGeom>
        </p:spPr>
      </p:pic>
      <p:pic>
        <p:nvPicPr>
          <p:cNvPr id="14" name="图片 13" descr="post_object_image_34428760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9281" y="3876785"/>
            <a:ext cx="327105" cy="319782"/>
          </a:xfrm>
          <a:prstGeom prst="rect">
            <a:avLst/>
          </a:prstGeom>
        </p:spPr>
      </p:pic>
      <p:pic>
        <p:nvPicPr>
          <p:cNvPr id="15" name="图片 14" descr="post_object_image_29098516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5222" y="4919238"/>
            <a:ext cx="527881" cy="527881"/>
          </a:xfrm>
          <a:prstGeom prst="rect">
            <a:avLst/>
          </a:prstGeom>
        </p:spPr>
      </p:pic>
      <p:pic>
        <p:nvPicPr>
          <p:cNvPr id="16" name="图片 15" descr="post_object_image_404326634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0256" y="5036173"/>
            <a:ext cx="316170" cy="294111"/>
          </a:xfrm>
          <a:prstGeom prst="rect">
            <a:avLst/>
          </a:prstGeom>
        </p:spPr>
      </p:pic>
      <p:pic>
        <p:nvPicPr>
          <p:cNvPr id="17" name="图片 16" descr="post_object_image_419313334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4330" y="5989724"/>
            <a:ext cx="527922" cy="527922"/>
          </a:xfrm>
          <a:prstGeom prst="rect">
            <a:avLst/>
          </a:prstGeom>
        </p:spPr>
      </p:pic>
      <p:pic>
        <p:nvPicPr>
          <p:cNvPr id="18" name="图片 17" descr="post_object_image_267631716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0256" y="6092990"/>
            <a:ext cx="349895" cy="321332"/>
          </a:xfrm>
          <a:prstGeom prst="rect">
            <a:avLst/>
          </a:prstGeom>
        </p:spPr>
      </p:pic>
      <p:pic>
        <p:nvPicPr>
          <p:cNvPr id="19" name="图片 18" descr="post_object_image_202816430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6943" y="1522883"/>
            <a:ext cx="4790236" cy="1214196"/>
          </a:xfrm>
          <a:prstGeom prst="rect">
            <a:avLst/>
          </a:prstGeom>
        </p:spPr>
      </p:pic>
      <p:sp>
        <p:nvSpPr>
          <p:cNvPr id="20" name="文本框 19"/>
          <p:cNvSpPr txBox="1"/>
          <p:nvPr userDrawn="1"/>
        </p:nvSpPr>
        <p:spPr>
          <a:xfrm>
            <a:off x="3822919" y="1588057"/>
            <a:ext cx="2334260" cy="46037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 sz="2400">
                <a:solidFill>
                  <a:schemeClr val="bg1"/>
                </a:solidFill>
              </a:rPr>
              <a:t>1. Sensor Layer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2614040" y="2049067"/>
            <a:ext cx="3379710" cy="40506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IMU, LiDAR, Encoder (Data Origin)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2" name="图片 21" descr="post_object_image_14719863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0311" y="2374971"/>
            <a:ext cx="4762237" cy="1221095"/>
          </a:xfrm>
          <a:prstGeom prst="rect">
            <a:avLst/>
          </a:prstGeom>
        </p:spPr>
      </p:pic>
      <p:sp>
        <p:nvSpPr>
          <p:cNvPr id="23" name="文本框 22"/>
          <p:cNvSpPr txBox="1"/>
          <p:nvPr userDrawn="1"/>
        </p:nvSpPr>
        <p:spPr>
          <a:xfrm>
            <a:off x="7153555" y="2454132"/>
            <a:ext cx="3384550" cy="46037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 sz="2400">
                <a:solidFill>
                  <a:schemeClr val="bg1"/>
                </a:solidFill>
              </a:rPr>
              <a:t>2. Firmware Processing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7121682" y="2915167"/>
            <a:ext cx="40944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Multi</a:t>
            </a:r>
            <a:r>
              <a:rPr lang="zh-CN" altLang="en-US">
                <a:solidFill>
                  <a:schemeClr val="bg1"/>
                </a:solidFill>
              </a:rPr>
              <a:t>-</a:t>
            </a:r>
            <a:r>
              <a:rPr lang="en-US" altLang="zh-CN">
                <a:solidFill>
                  <a:schemeClr val="bg1"/>
                </a:solidFill>
              </a:rPr>
              <a:t>tasking </a:t>
            </a:r>
            <a:r>
              <a:rPr lang="zh-CN" altLang="en-US">
                <a:solidFill>
                  <a:schemeClr val="bg1"/>
                </a:solidFill>
              </a:rPr>
              <a:t>&amp; </a:t>
            </a:r>
            <a:r>
              <a:rPr lang="en-US" altLang="zh-CN">
                <a:solidFill>
                  <a:schemeClr val="bg1"/>
                </a:solidFill>
              </a:rPr>
              <a:t>Data Fusion on STM32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5" name="图片 24" descr="post_object_image_32427630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66943" y="3596094"/>
            <a:ext cx="4784538" cy="1202727"/>
          </a:xfrm>
          <a:prstGeom prst="rect">
            <a:avLst/>
          </a:prstGeom>
        </p:spPr>
      </p:pic>
      <p:sp>
        <p:nvSpPr>
          <p:cNvPr id="26" name="文本框 25"/>
          <p:cNvSpPr txBox="1"/>
          <p:nvPr userDrawn="1"/>
        </p:nvSpPr>
        <p:spPr>
          <a:xfrm>
            <a:off x="2822858" y="3627932"/>
            <a:ext cx="3170899" cy="389524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rgbClr val="000000"/>
                </a:solidFill>
              </a:rPr>
              <a:t>3. Communication Layer</a:t>
            </a: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27" name="文本框 26"/>
          <p:cNvSpPr txBox="1"/>
          <p:nvPr userDrawn="1"/>
        </p:nvSpPr>
        <p:spPr>
          <a:xfrm>
            <a:off x="1509501" y="4090351"/>
            <a:ext cx="497014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/>
              <a:t>Bluetooth Transmission </a:t>
            </a:r>
            <a:r>
              <a:rPr lang="zh-CN" altLang="en-US"/>
              <a:t>&amp; </a:t>
            </a:r>
            <a:r>
              <a:rPr lang="en-US" altLang="zh-CN"/>
              <a:t>Data Packet Delivery</a:t>
            </a:r>
            <a:endParaRPr lang="zh-CN" altLang="en-US"/>
          </a:p>
        </p:txBody>
      </p:sp>
      <p:pic>
        <p:nvPicPr>
          <p:cNvPr id="28" name="图片 27" descr="post_object_image_62654664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37987" y="4701465"/>
            <a:ext cx="4774561" cy="1175186"/>
          </a:xfrm>
          <a:prstGeom prst="rect">
            <a:avLst/>
          </a:prstGeom>
        </p:spPr>
      </p:pic>
      <p:sp>
        <p:nvSpPr>
          <p:cNvPr id="29" name="文本框 28"/>
          <p:cNvSpPr txBox="1"/>
          <p:nvPr userDrawn="1"/>
        </p:nvSpPr>
        <p:spPr>
          <a:xfrm>
            <a:off x="7121651" y="4798816"/>
            <a:ext cx="3316605" cy="46037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 sz="2400"/>
              <a:t>4. Software Processing</a:t>
            </a:r>
            <a:endParaRPr lang="zh-CN" altLang="en-US" sz="2400"/>
          </a:p>
        </p:txBody>
      </p:sp>
      <p:sp>
        <p:nvSpPr>
          <p:cNvPr id="30" name="文本框 29"/>
          <p:cNvSpPr txBox="1"/>
          <p:nvPr userDrawn="1"/>
        </p:nvSpPr>
        <p:spPr>
          <a:xfrm>
            <a:off x="7121651" y="5159957"/>
            <a:ext cx="47040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/>
              <a:t>Real</a:t>
            </a:r>
            <a:r>
              <a:rPr lang="zh-CN" altLang="en-US"/>
              <a:t>-</a:t>
            </a:r>
            <a:r>
              <a:rPr lang="en-US" altLang="zh-CN"/>
              <a:t>time Mapping </a:t>
            </a:r>
            <a:r>
              <a:rPr lang="zh-CN" altLang="en-US"/>
              <a:t>&amp; </a:t>
            </a:r>
            <a:r>
              <a:rPr lang="en-US" altLang="zh-CN"/>
              <a:t>Algorithm Computation</a:t>
            </a:r>
            <a:endParaRPr lang="zh-CN" altLang="en-US"/>
          </a:p>
        </p:txBody>
      </p:sp>
      <p:pic>
        <p:nvPicPr>
          <p:cNvPr id="31" name="图片 30" descr="post_object_image_138561449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66943" y="5705019"/>
            <a:ext cx="4786700" cy="1152941"/>
          </a:xfrm>
          <a:prstGeom prst="rect">
            <a:avLst/>
          </a:prstGeom>
        </p:spPr>
      </p:pic>
      <p:sp>
        <p:nvSpPr>
          <p:cNvPr id="32" name="文本框 31"/>
          <p:cNvSpPr txBox="1"/>
          <p:nvPr userDrawn="1"/>
        </p:nvSpPr>
        <p:spPr>
          <a:xfrm>
            <a:off x="4284221" y="5723457"/>
            <a:ext cx="1709535" cy="46101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bg1"/>
                </a:solidFill>
              </a:rPr>
              <a:t>5. UI Layer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33" name="文本框 32"/>
          <p:cNvSpPr txBox="1"/>
          <p:nvPr userDrawn="1"/>
        </p:nvSpPr>
        <p:spPr>
          <a:xfrm>
            <a:off x="1509513" y="6148076"/>
            <a:ext cx="480123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Visualization Control </a:t>
            </a:r>
            <a:r>
              <a:rPr lang="zh-CN" altLang="en-US">
                <a:solidFill>
                  <a:schemeClr val="bg1"/>
                </a:solidFill>
              </a:rPr>
              <a:t>&amp; </a:t>
            </a:r>
            <a:r>
              <a:rPr lang="en-US" altLang="zh-CN">
                <a:solidFill>
                  <a:schemeClr val="bg1"/>
                </a:solidFill>
              </a:rPr>
              <a:t>Parameter Adjustment</a:t>
            </a:r>
            <a:endParaRPr lang="zh-CN" altLang="en-US">
              <a:solidFill>
                <a:schemeClr val="bg1"/>
              </a:solidFill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79424" y="165839"/>
            <a:ext cx="11233151" cy="415290"/>
          </a:xfrm>
        </p:spPr>
        <p:txBody>
          <a:bodyPr/>
          <a:lstStyle/>
          <a:p>
            <a:r>
              <a:rPr lang="en-US" altLang="zh-CN"/>
              <a:t>Lightweight Packet Blueprint</a:t>
            </a:r>
            <a:endParaRPr lang="en-US" altLang="zh-CN"/>
          </a:p>
        </p:txBody>
      </p:sp>
      <p:pic>
        <p:nvPicPr>
          <p:cNvPr id="5" name="图片 4" descr="post_object_image_31740678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52" y="1475293"/>
            <a:ext cx="3601868" cy="51057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367252" y="1807700"/>
            <a:ext cx="2720975" cy="46037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chemeClr val="accent1">
                    <a:lumMod val="50000"/>
                    <a:lumOff val="50000"/>
                  </a:schemeClr>
                </a:solidFill>
              </a:rPr>
              <a:t>LiDAR Fusion Packet</a:t>
            </a:r>
            <a:endParaRPr lang="zh-CN" altLang="en-US" sz="2400" b="1">
              <a:solidFill>
                <a:schemeClr val="accent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367236" y="2368479"/>
            <a:ext cx="3871274" cy="336265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For scan</a:t>
            </a:r>
            <a:r>
              <a:rPr lang="zh-CN" altLang="en-US"/>
              <a:t>-</a:t>
            </a:r>
            <a:r>
              <a:rPr lang="en-US" altLang="zh-CN"/>
              <a:t>synced odometry.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Header: 0xAA55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Payload: Angle, Distance, Quality, Odometry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Size: 18 bytes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Frequency: 10 Hz</a:t>
            </a:r>
            <a:endParaRPr lang="zh-CN" altLang="en-US"/>
          </a:p>
        </p:txBody>
      </p:sp>
      <p:pic>
        <p:nvPicPr>
          <p:cNvPr id="8" name="图片 7" descr="post_object_image_39141640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156" y="1475293"/>
            <a:ext cx="3589728" cy="50820"/>
          </a:xfrm>
          <a:prstGeom prst="rect">
            <a:avLst/>
          </a:prstGeom>
        </p:spPr>
      </p:pic>
      <p:pic>
        <p:nvPicPr>
          <p:cNvPr id="9" name="图片 8" descr="post_object_image_56964638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471" y="1461960"/>
            <a:ext cx="3596077" cy="64414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4238510" y="1807725"/>
            <a:ext cx="3361690" cy="46037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chemeClr val="accent1">
                    <a:lumMod val="75000"/>
                    <a:lumOff val="25000"/>
                  </a:schemeClr>
                </a:solidFill>
              </a:rPr>
              <a:t>Standalone Odom Packet</a:t>
            </a:r>
            <a:endParaRPr lang="zh-CN" altLang="en-US" sz="2400" b="1">
              <a:solidFill>
                <a:schemeClr val="accent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4459777" y="2424038"/>
            <a:ext cx="3192780" cy="258445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/>
              <a:t>For high</a:t>
            </a:r>
            <a:r>
              <a:rPr lang="zh-CN" altLang="en-US"/>
              <a:t>-</a:t>
            </a:r>
            <a:r>
              <a:rPr lang="en-US" altLang="zh-CN"/>
              <a:t>rate localization.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Header: 0xBB55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Payload: Position, Orientation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Size: 11 bytes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Frequency: 250 Hz</a:t>
            </a:r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8169408" y="1817627"/>
            <a:ext cx="3543140" cy="55080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4">
                    <a:lumMod val="60000"/>
                    <a:lumOff val="40000"/>
                  </a:schemeClr>
                </a:solidFill>
              </a:rPr>
              <a:t>Control Command Packet</a:t>
            </a:r>
            <a:endParaRPr lang="zh-CN" altLang="en-US" sz="2400" b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8360767" y="2496110"/>
            <a:ext cx="3738880" cy="258445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/>
              <a:t>For motion and system tasks.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Format: ASCII String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Examples: W/S/A/D, F50, L90, x, S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Size: Variable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Type: Human</a:t>
            </a:r>
            <a:r>
              <a:rPr lang="zh-CN" altLang="en-US"/>
              <a:t>-</a:t>
            </a:r>
            <a:r>
              <a:rPr lang="en-US" altLang="zh-CN"/>
              <a:t>readable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79424" y="165839"/>
            <a:ext cx="11233151" cy="415290"/>
          </a:xfrm>
        </p:spPr>
        <p:txBody>
          <a:bodyPr/>
          <a:lstStyle/>
          <a:p>
            <a:r>
              <a: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Realtime &amp; Sync Tactics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289410" y="1119290"/>
            <a:ext cx="4927600" cy="46037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chemeClr val="accent4">
                    <a:lumMod val="60000"/>
                    <a:lumOff val="40000"/>
                  </a:schemeClr>
                </a:solidFill>
              </a:rPr>
              <a:t>Guaranteeing Real</a:t>
            </a:r>
            <a:r>
              <a:rPr lang="zh-CN" altLang="en-US" sz="2400" b="1">
                <a:solidFill>
                  <a:schemeClr val="accent4">
                    <a:lumMod val="60000"/>
                    <a:lumOff val="40000"/>
                  </a:schemeClr>
                </a:solidFill>
              </a:rPr>
              <a:t>-</a:t>
            </a:r>
            <a:r>
              <a:rPr lang="en-US" altLang="zh-CN" sz="2400" b="1">
                <a:solidFill>
                  <a:schemeClr val="accent4">
                    <a:lumMod val="60000"/>
                    <a:lumOff val="40000"/>
                  </a:schemeClr>
                </a:solidFill>
              </a:rPr>
              <a:t>Time Performance</a:t>
            </a:r>
            <a:endParaRPr lang="zh-CN" altLang="en-US" sz="2400" b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429087" y="1937400"/>
            <a:ext cx="4609373" cy="1606414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00" b="1">
                <a:solidFill>
                  <a:schemeClr val="accent4">
                    <a:lumMod val="60000"/>
                    <a:lumOff val="40000"/>
                  </a:schemeClr>
                </a:solidFill>
              </a:rPr>
              <a:t>STM32 Firmware</a:t>
            </a:r>
            <a:endParaRPr lang="en-US" altLang="zh-CN" sz="2200" b="1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zh-CN">
                <a:solidFill>
                  <a:srgbClr val="000000"/>
                </a:solidFill>
              </a:rPr>
              <a:t>Utilizes a  </a:t>
            </a:r>
            <a:r>
              <a:rPr lang="en-US" altLang="zh-CN" b="1">
                <a:solidFill>
                  <a:srgbClr val="000000"/>
                </a:solidFill>
              </a:rPr>
              <a:t>priority</a:t>
            </a:r>
            <a:r>
              <a:rPr lang="zh-CN" altLang="en-US" b="1">
                <a:solidFill>
                  <a:srgbClr val="000000"/>
                </a:solidFill>
              </a:rPr>
              <a:t>-</a:t>
            </a:r>
            <a:r>
              <a:rPr lang="en-US" altLang="zh-CN" b="1">
                <a:solidFill>
                  <a:srgbClr val="000000"/>
                </a:solidFill>
              </a:rPr>
              <a:t>based RTOS</a:t>
            </a:r>
            <a:r>
              <a:rPr lang="en-US" altLang="zh-CN">
                <a:solidFill>
                  <a:srgbClr val="000000"/>
                </a:solidFill>
              </a:rPr>
              <a:t>  to ensure critical tasks (motor control, odometry) are executed with minimal jitter.</a:t>
            </a:r>
            <a:endParaRPr lang="zh-CN" altLang="en-US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429109" y="3443921"/>
            <a:ext cx="4689169" cy="131708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00" b="1">
                <a:solidFill>
                  <a:srgbClr val="5FADE4"/>
                </a:solidFill>
              </a:rPr>
              <a:t>Python Software</a:t>
            </a:r>
            <a:endParaRPr lang="en-US" altLang="zh-CN" sz="2200" b="1">
              <a:solidFill>
                <a:srgbClr val="5FADE4"/>
              </a:solidFill>
            </a:endParaRPr>
          </a:p>
          <a:p>
            <a:r>
              <a:rPr lang="en-US" altLang="zh-CN">
                <a:solidFill>
                  <a:srgbClr val="000000"/>
                </a:solidFill>
              </a:rPr>
              <a:t>Employs a  </a:t>
            </a:r>
            <a:r>
              <a:rPr lang="en-US" altLang="zh-CN" b="1">
                <a:solidFill>
                  <a:srgbClr val="000000"/>
                </a:solidFill>
              </a:rPr>
              <a:t>dedicated RX thread</a:t>
            </a:r>
            <a:r>
              <a:rPr lang="en-US" altLang="zh-CN">
                <a:solidFill>
                  <a:srgbClr val="000000"/>
                </a:solidFill>
              </a:rPr>
              <a:t>  to prevent data loss and maintain UI responsiveness during heavy computation.</a:t>
            </a:r>
            <a:endParaRPr lang="zh-CN" altLang="en-US">
              <a:solidFill>
                <a:srgbClr val="5FADE4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29109" y="5010303"/>
            <a:ext cx="4908474" cy="119562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00" b="1">
                <a:solidFill>
                  <a:srgbClr val="5FADE4"/>
                </a:solidFill>
              </a:rPr>
              <a:t>Communication</a:t>
            </a:r>
            <a:endParaRPr lang="en-US" altLang="zh-CN" sz="2200" b="1">
              <a:solidFill>
                <a:srgbClr val="5FADE4"/>
              </a:solidFill>
            </a:endParaRPr>
          </a:p>
          <a:p>
            <a:r>
              <a:rPr lang="en-US" altLang="zh-CN">
                <a:solidFill>
                  <a:srgbClr val="000000"/>
                </a:solidFill>
              </a:rPr>
              <a:t>UART baud rate is maximized to </a:t>
            </a:r>
            <a:r>
              <a:rPr lang="en-US" altLang="zh-CN" b="1">
                <a:solidFill>
                  <a:srgbClr val="000000"/>
                </a:solidFill>
              </a:rPr>
              <a:t> 921600 </a:t>
            </a:r>
            <a:r>
              <a:rPr lang="en-US" altLang="zh-CN">
                <a:solidFill>
                  <a:srgbClr val="000000"/>
                </a:solidFill>
              </a:rPr>
              <a:t> to create a high</a:t>
            </a:r>
            <a:r>
              <a:rPr lang="zh-CN" altLang="en-US">
                <a:solidFill>
                  <a:srgbClr val="000000"/>
                </a:solidFill>
              </a:rPr>
              <a:t>-</a:t>
            </a:r>
            <a:r>
              <a:rPr lang="en-US" altLang="zh-CN">
                <a:solidFill>
                  <a:srgbClr val="000000"/>
                </a:solidFill>
              </a:rPr>
              <a:t>throughput, low</a:t>
            </a:r>
            <a:r>
              <a:rPr lang="zh-CN" altLang="en-US">
                <a:solidFill>
                  <a:srgbClr val="000000"/>
                </a:solidFill>
              </a:rPr>
              <a:t>-</a:t>
            </a:r>
            <a:r>
              <a:rPr lang="en-US" altLang="zh-CN">
                <a:solidFill>
                  <a:srgbClr val="000000"/>
                </a:solidFill>
              </a:rPr>
              <a:t>latency link.</a:t>
            </a:r>
            <a:endParaRPr lang="zh-CN" altLang="en-US" sz="2200">
              <a:solidFill>
                <a:schemeClr val="accent3"/>
              </a:solidFill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6983947" y="1149720"/>
            <a:ext cx="4460240" cy="46037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rgbClr val="1757C9"/>
                </a:solidFill>
              </a:rPr>
              <a:t>Maintaining Data Synchronization</a:t>
            </a:r>
            <a:endParaRPr lang="zh-CN" altLang="en-US" sz="2400" b="1">
              <a:solidFill>
                <a:srgbClr val="1757C9"/>
              </a:solidFill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6983969" y="1937425"/>
            <a:ext cx="5138066" cy="14250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00" b="1">
                <a:solidFill>
                  <a:srgbClr val="1757C9"/>
                </a:solidFill>
              </a:rPr>
              <a:t>Timestamp Alignment</a:t>
            </a:r>
            <a:endParaRPr lang="en-US" altLang="zh-CN" sz="2200" b="1">
              <a:solidFill>
                <a:srgbClr val="1757C9"/>
              </a:solidFill>
            </a:endParaRPr>
          </a:p>
          <a:p>
            <a:r>
              <a:rPr lang="en-US" altLang="zh-CN" b="1">
                <a:solidFill>
                  <a:srgbClr val="000000"/>
                </a:solidFill>
              </a:rPr>
              <a:t>MU data is buffered and synchronized with LiDAR scan data</a:t>
            </a:r>
            <a:r>
              <a:rPr lang="en-US" altLang="zh-CN">
                <a:solidFill>
                  <a:srgbClr val="000000"/>
                </a:solidFill>
              </a:rPr>
              <a:t> to ensure a consistent snapshot of the robot's state.</a:t>
            </a:r>
            <a:endParaRPr lang="zh-CN" altLang="en-US" sz="2200">
              <a:solidFill>
                <a:srgbClr val="1757C9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6983969" y="3543815"/>
            <a:ext cx="5068227" cy="1405142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00" b="1">
                <a:solidFill>
                  <a:srgbClr val="1757C9"/>
                </a:solidFill>
              </a:rPr>
              <a:t>Pose Interpolation</a:t>
            </a:r>
            <a:endParaRPr lang="en-US" altLang="zh-CN" sz="2200" b="1">
              <a:solidFill>
                <a:srgbClr val="1757C9"/>
              </a:solidFill>
            </a:endParaRPr>
          </a:p>
          <a:p>
            <a:r>
              <a:rPr lang="en-US" altLang="zh-CN" b="1">
                <a:solidFill>
                  <a:srgbClr val="000000"/>
                </a:solidFill>
              </a:rPr>
              <a:t>High</a:t>
            </a:r>
            <a:r>
              <a:rPr lang="zh-CN" altLang="en-US" b="1">
                <a:solidFill>
                  <a:srgbClr val="000000"/>
                </a:solidFill>
              </a:rPr>
              <a:t>-</a:t>
            </a:r>
            <a:r>
              <a:rPr lang="en-US" altLang="zh-CN" b="1">
                <a:solidFill>
                  <a:srgbClr val="000000"/>
                </a:solidFill>
              </a:rPr>
              <a:t>frequency odometry</a:t>
            </a:r>
            <a:r>
              <a:rPr lang="en-US" altLang="zh-CN">
                <a:solidFill>
                  <a:srgbClr val="000000"/>
                </a:solidFill>
              </a:rPr>
              <a:t> allows for pose correction even as the LiDAR scan is being received, preventing map distortion.</a:t>
            </a:r>
            <a:endParaRPr lang="zh-CN" altLang="en-US" sz="2200">
              <a:solidFill>
                <a:srgbClr val="1757C9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7063763" y="5309611"/>
            <a:ext cx="639120" cy="368300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6983969" y="5010328"/>
            <a:ext cx="5068194" cy="1137796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r>
              <a:rPr lang="en-US" altLang="zh-CN" sz="2200" b="1">
                <a:solidFill>
                  <a:srgbClr val="1757C9"/>
                </a:solidFill>
              </a:rPr>
              <a:t>Coordinate Unification</a:t>
            </a:r>
            <a:endParaRPr lang="en-US" altLang="zh-CN" sz="2200" b="1">
              <a:solidFill>
                <a:srgbClr val="1757C9"/>
              </a:solidFill>
            </a:endParaRPr>
          </a:p>
          <a:p>
            <a:r>
              <a:rPr lang="en-US" altLang="zh-CN" b="1">
                <a:solidFill>
                  <a:srgbClr val="000000"/>
                </a:solidFill>
              </a:rPr>
              <a:t>Automatic conversion</a:t>
            </a:r>
            <a:r>
              <a:rPr lang="en-US" altLang="zh-CN">
                <a:solidFill>
                  <a:srgbClr val="000000"/>
                </a:solidFill>
              </a:rPr>
              <a:t> from the LiDAR's left</a:t>
            </a:r>
            <a:r>
              <a:rPr lang="zh-CN" altLang="en-US">
                <a:solidFill>
                  <a:srgbClr val="000000"/>
                </a:solidFill>
              </a:rPr>
              <a:t>-</a:t>
            </a:r>
            <a:r>
              <a:rPr lang="en-US" altLang="zh-CN">
                <a:solidFill>
                  <a:srgbClr val="000000"/>
                </a:solidFill>
              </a:rPr>
              <a:t>hand coordinate system to the screen's right</a:t>
            </a:r>
            <a:r>
              <a:rPr lang="zh-CN" altLang="en-US">
                <a:solidFill>
                  <a:srgbClr val="000000"/>
                </a:solidFill>
              </a:rPr>
              <a:t>-</a:t>
            </a:r>
            <a:r>
              <a:rPr lang="en-US" altLang="zh-CN">
                <a:solidFill>
                  <a:srgbClr val="000000"/>
                </a:solidFill>
              </a:rPr>
              <a:t>hand system is performed.</a:t>
            </a:r>
            <a:endParaRPr lang="en-US" altLang="zh-CN" sz="2200">
              <a:solidFill>
                <a:srgbClr val="1757C9"/>
              </a:solidFill>
            </a:endParaRPr>
          </a:p>
          <a:p>
            <a:endParaRPr lang="zh-CN" altLang="en-US" sz="2200">
              <a:solidFill>
                <a:srgbClr val="1757C9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5058701"/>
            <a:ext cx="12192000" cy="1799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4253" b="15909"/>
          <a:stretch>
            <a:fillRect/>
          </a:stretch>
        </p:blipFill>
        <p:spPr>
          <a:xfrm>
            <a:off x="3316771" y="788306"/>
            <a:ext cx="8179904" cy="5270215"/>
          </a:xfrm>
          <a:custGeom>
            <a:avLst/>
            <a:gdLst>
              <a:gd name="connsiteX0" fmla="*/ 0 w 2894062"/>
              <a:gd name="connsiteY0" fmla="*/ 0 h 5275802"/>
              <a:gd name="connsiteX1" fmla="*/ 2894062 w 2894062"/>
              <a:gd name="connsiteY1" fmla="*/ 0 h 5275802"/>
              <a:gd name="connsiteX2" fmla="*/ 2894062 w 2894062"/>
              <a:gd name="connsiteY2" fmla="*/ 5275802 h 5275802"/>
              <a:gd name="connsiteX3" fmla="*/ 0 w 2894062"/>
              <a:gd name="connsiteY3" fmla="*/ 5275802 h 527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4062" h="5275802">
                <a:moveTo>
                  <a:pt x="0" y="0"/>
                </a:moveTo>
                <a:lnTo>
                  <a:pt x="2894062" y="0"/>
                </a:lnTo>
                <a:lnTo>
                  <a:pt x="2894062" y="5275802"/>
                </a:lnTo>
                <a:lnTo>
                  <a:pt x="0" y="5275802"/>
                </a:lnTo>
                <a:close/>
              </a:path>
            </a:pathLst>
          </a:custGeom>
          <a:ln>
            <a:noFill/>
          </a:ln>
        </p:spPr>
      </p:pic>
      <p:sp>
        <p:nvSpPr>
          <p:cNvPr id="22" name="part"/>
          <p:cNvSpPr/>
          <p:nvPr/>
        </p:nvSpPr>
        <p:spPr>
          <a:xfrm>
            <a:off x="695325" y="785512"/>
            <a:ext cx="2428875" cy="527580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page"/>
          <p:cNvSpPr txBox="1"/>
          <p:nvPr/>
        </p:nvSpPr>
        <p:spPr>
          <a:xfrm>
            <a:off x="11460667" y="6385673"/>
            <a:ext cx="99386" cy="2154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48DBFAF-01A5-47DE-A33F-834723B47D4E}" type="slidenum">
              <a:rPr lang="ja-JP" altLang="en-US" sz="1400" b="1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</a:fld>
            <a:endParaRPr lang="ja-JP" altLang="en-US" sz="1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part"/>
          <p:cNvSpPr/>
          <p:nvPr/>
        </p:nvSpPr>
        <p:spPr>
          <a:xfrm flipH="1">
            <a:off x="1366520" y="2532604"/>
            <a:ext cx="1086485" cy="17849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90000" rIns="0" bIns="9000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>
              <a:lnSpc>
                <a:spcPct val="90000"/>
              </a:lnSpc>
            </a:pPr>
            <a:r>
              <a:rPr kumimoji="1"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Part</a:t>
            </a:r>
            <a:endParaRPr kumimoji="1"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>
              <a:lnSpc>
                <a:spcPct val="90000"/>
              </a:lnSpc>
            </a:pPr>
            <a:r>
              <a:rPr kumimoji="1" lang="en-US" altLang="zh-CN" sz="7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04</a:t>
            </a:r>
            <a:endParaRPr kumimoji="1" lang="en-US" altLang="zh-CN" sz="7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5325" y="748932"/>
            <a:ext cx="2428875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30690" y="2863386"/>
            <a:ext cx="7225407" cy="8182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4400"/>
              <a:t>Software Technical Details</a:t>
            </a:r>
            <a:endParaRPr lang="en-US" altLang="zh-CN" sz="4400"/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79424" y="165838"/>
            <a:ext cx="11233151" cy="415290"/>
          </a:xfrm>
        </p:spPr>
        <p:txBody>
          <a:bodyPr/>
          <a:lstStyle/>
          <a:p>
            <a:r>
              <a:rPr lang="en-US" altLang="zh-CN"/>
              <a:t>Visualizer Engine Architecture</a:t>
            </a:r>
            <a:endParaRPr lang="en-US" altLang="zh-CN"/>
          </a:p>
        </p:txBody>
      </p:sp>
      <p:pic>
        <p:nvPicPr>
          <p:cNvPr id="3" name="图片 2" descr="post_object_image_3242120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1261"/>
            <a:ext cx="892672" cy="1002427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1406751" y="977742"/>
            <a:ext cx="9659785" cy="645160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r>
              <a:rPr lang="en-US" altLang="zh-CN" sz="2400"/>
              <a:t>A </a:t>
            </a:r>
            <a:r>
              <a:rPr lang="en-US" altLang="zh-CN" sz="2400" b="1"/>
              <a:t>multi</a:t>
            </a:r>
            <a:r>
              <a:rPr lang="zh-CN" altLang="en-US" sz="2400" b="1"/>
              <a:t>-</a:t>
            </a:r>
            <a:r>
              <a:rPr lang="en-US" altLang="zh-CN" sz="2400" b="1"/>
              <a:t>threaded design</a:t>
            </a:r>
            <a:r>
              <a:rPr lang="en-US" altLang="zh-CN" sz="2400"/>
              <a:t> in lidar_visualizer.py for maximum performance.</a:t>
            </a:r>
            <a:endParaRPr lang="zh-CN" altLang="en-US" sz="240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2094058" y="2025155"/>
            <a:ext cx="5314999" cy="1378341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00">
                <a:solidFill>
                  <a:srgbClr val="0070C0"/>
                </a:solidFill>
              </a:rPr>
              <a:t>1. Data Reception Thread</a:t>
            </a:r>
            <a:endParaRPr lang="en-US" altLang="zh-CN" sz="2200">
              <a:solidFill>
                <a:srgbClr val="0070C0"/>
              </a:solidFill>
            </a:endParaRPr>
          </a:p>
          <a:p>
            <a:r>
              <a:rPr lang="en-US" altLang="zh-CN">
                <a:solidFill>
                  <a:srgbClr val="000000"/>
                </a:solidFill>
              </a:rPr>
              <a:t>An </a:t>
            </a:r>
            <a:r>
              <a:rPr lang="en-US" altLang="zh-CN" b="1">
                <a:solidFill>
                  <a:srgbClr val="000000"/>
                </a:solidFill>
              </a:rPr>
              <a:t>independent thread</a:t>
            </a:r>
            <a:r>
              <a:rPr lang="en-US" altLang="zh-CN">
                <a:solidFill>
                  <a:srgbClr val="000000"/>
                </a:solidFill>
              </a:rPr>
              <a:t> solely responsible for reading and parsing data from the serial port to prevent I/O blocking.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2094058" y="3556842"/>
            <a:ext cx="4971941" cy="131708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00">
                <a:solidFill>
                  <a:srgbClr val="0070C0"/>
                </a:solidFill>
              </a:rPr>
              <a:t>2. Main Thread</a:t>
            </a:r>
            <a:endParaRPr lang="en-US" altLang="zh-CN" sz="2200">
              <a:solidFill>
                <a:srgbClr val="0070C0"/>
              </a:solidFill>
            </a:endParaRPr>
          </a:p>
          <a:p>
            <a:r>
              <a:rPr lang="en-US" altLang="zh-CN">
                <a:solidFill>
                  <a:srgbClr val="000000"/>
                </a:solidFill>
              </a:rPr>
              <a:t>Handles </a:t>
            </a:r>
            <a:r>
              <a:rPr lang="en-US" altLang="zh-CN" b="1">
                <a:solidFill>
                  <a:srgbClr val="000000"/>
                </a:solidFill>
              </a:rPr>
              <a:t>real</a:t>
            </a:r>
            <a:r>
              <a:rPr lang="zh-CN" altLang="en-US" b="1">
                <a:solidFill>
                  <a:srgbClr val="000000"/>
                </a:solidFill>
              </a:rPr>
              <a:t>-</a:t>
            </a:r>
            <a:r>
              <a:rPr lang="en-US" altLang="zh-CN" b="1">
                <a:solidFill>
                  <a:srgbClr val="000000"/>
                </a:solidFill>
              </a:rPr>
              <a:t>time visualization rendering and SLAM processing</a:t>
            </a:r>
            <a:r>
              <a:rPr lang="en-US" altLang="zh-CN">
                <a:solidFill>
                  <a:srgbClr val="000000"/>
                </a:solidFill>
              </a:rPr>
              <a:t>, ensuring the GUI remains fluid and responsive.</a:t>
            </a:r>
            <a:endParaRPr lang="zh-CN" altLang="en-US" sz="2200">
              <a:solidFill>
                <a:srgbClr val="0070C0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2094058" y="5023579"/>
            <a:ext cx="4971916" cy="136696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00">
                <a:solidFill>
                  <a:srgbClr val="0070C0"/>
                </a:solidFill>
              </a:rPr>
              <a:t>3. Shared Odom Data</a:t>
            </a:r>
            <a:endParaRPr lang="en-US" altLang="zh-CN" sz="2200">
              <a:solidFill>
                <a:srgbClr val="0070C0"/>
              </a:solidFill>
            </a:endParaRPr>
          </a:p>
          <a:p>
            <a:r>
              <a:rPr lang="en-US" altLang="zh-CN">
                <a:solidFill>
                  <a:srgbClr val="000000"/>
                </a:solidFill>
              </a:rPr>
              <a:t>A </a:t>
            </a:r>
            <a:r>
              <a:rPr lang="en-US" altLang="zh-CN" b="1">
                <a:solidFill>
                  <a:srgbClr val="000000"/>
                </a:solidFill>
              </a:rPr>
              <a:t>thread</a:t>
            </a:r>
            <a:r>
              <a:rPr lang="zh-CN" altLang="en-US" b="1">
                <a:solidFill>
                  <a:srgbClr val="000000"/>
                </a:solidFill>
              </a:rPr>
              <a:t>-</a:t>
            </a:r>
            <a:r>
              <a:rPr lang="en-US" altLang="zh-CN" b="1">
                <a:solidFill>
                  <a:srgbClr val="000000"/>
                </a:solidFill>
              </a:rPr>
              <a:t>safe buffer</a:t>
            </a:r>
            <a:r>
              <a:rPr lang="en-US" altLang="zh-CN">
                <a:solidFill>
                  <a:srgbClr val="000000"/>
                </a:solidFill>
              </a:rPr>
              <a:t> that allows the RX thread to deposit odometry data for the main thread to consume without race conditions.</a:t>
            </a:r>
            <a:endParaRPr lang="zh-CN" altLang="en-US" sz="2200">
              <a:solidFill>
                <a:srgbClr val="0070C0"/>
              </a:solidFill>
            </a:endParaRPr>
          </a:p>
        </p:txBody>
      </p:sp>
      <p:pic>
        <p:nvPicPr>
          <p:cNvPr id="9" name="图片 8" descr="post_object_image_42855624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115" y="2075089"/>
            <a:ext cx="704218" cy="704218"/>
          </a:xfrm>
          <a:prstGeom prst="rect">
            <a:avLst/>
          </a:prstGeom>
        </p:spPr>
      </p:pic>
      <p:pic>
        <p:nvPicPr>
          <p:cNvPr id="11" name="图片 10" descr="post_object_image_353324488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170" y="2294730"/>
            <a:ext cx="355949" cy="264892"/>
          </a:xfrm>
          <a:prstGeom prst="rect">
            <a:avLst/>
          </a:prstGeom>
        </p:spPr>
      </p:pic>
      <p:pic>
        <p:nvPicPr>
          <p:cNvPr id="12" name="图片 11" descr="post_object_image_20653109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115" y="3636162"/>
            <a:ext cx="704174" cy="704218"/>
          </a:xfrm>
          <a:prstGeom prst="rect">
            <a:avLst/>
          </a:prstGeom>
        </p:spPr>
      </p:pic>
      <p:pic>
        <p:nvPicPr>
          <p:cNvPr id="13" name="图片 12" descr="post_object_image_31715340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1764" y="3770325"/>
            <a:ext cx="420876" cy="435890"/>
          </a:xfrm>
          <a:prstGeom prst="rect">
            <a:avLst/>
          </a:prstGeom>
        </p:spPr>
      </p:pic>
      <p:pic>
        <p:nvPicPr>
          <p:cNvPr id="14" name="图片 13" descr="post_object_image_4880878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115" y="5127494"/>
            <a:ext cx="709889" cy="709889"/>
          </a:xfrm>
          <a:prstGeom prst="rect">
            <a:avLst/>
          </a:prstGeom>
        </p:spPr>
      </p:pic>
      <p:pic>
        <p:nvPicPr>
          <p:cNvPr id="15" name="图片 14" descr="post_object_image_31152110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1227" y="5277632"/>
            <a:ext cx="361950" cy="409575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/>
        </p:nvSpPr>
        <p:spPr>
          <a:xfrm>
            <a:off x="7875927" y="1655336"/>
            <a:ext cx="3274533" cy="369570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r>
              <a:rPr lang="en-US" altLang="zh-CN" sz="2200">
                <a:solidFill>
                  <a:srgbClr val="1757C9"/>
                </a:solidFill>
              </a:rPr>
              <a:t>Performance Metrics</a:t>
            </a:r>
            <a:endParaRPr lang="zh-CN" altLang="en-US" sz="2200">
              <a:solidFill>
                <a:srgbClr val="1757C9"/>
              </a:solidFill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8464645" y="2224908"/>
            <a:ext cx="1651635" cy="70675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 sz="4000">
                <a:solidFill>
                  <a:srgbClr val="1757C9"/>
                </a:solidFill>
              </a:rPr>
              <a:t>166Hz</a:t>
            </a:r>
            <a:endParaRPr lang="zh-CN" altLang="en-US" sz="4000">
              <a:solidFill>
                <a:srgbClr val="1757C9"/>
              </a:solidFill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8113169" y="2712844"/>
            <a:ext cx="23545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/>
              <a:t>UI Update Frequency</a:t>
            </a:r>
            <a:endParaRPr lang="zh-CN" altLang="en-US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8789444" y="3432731"/>
            <a:ext cx="1002030" cy="706755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 sz="4000">
                <a:solidFill>
                  <a:srgbClr val="1757C9"/>
                </a:solidFill>
              </a:rPr>
              <a:t>15k</a:t>
            </a:r>
            <a:endParaRPr lang="zh-CN" altLang="en-US" sz="4000">
              <a:solidFill>
                <a:srgbClr val="1757C9"/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8012151" y="4059771"/>
            <a:ext cx="2659380" cy="36957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Data Packets per Frame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767539" y="4694317"/>
            <a:ext cx="4902572" cy="124754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4000">
                <a:solidFill>
                  <a:srgbClr val="1757C9"/>
                </a:solidFill>
              </a:rPr>
              <a:t>Independent thread processing</a:t>
            </a:r>
            <a:endParaRPr lang="en-US" altLang="zh-CN" sz="4000">
              <a:solidFill>
                <a:srgbClr val="1757C9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104698" y="5866610"/>
            <a:ext cx="2474285" cy="34961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Multi-Core Utilization</a:t>
            </a:r>
            <a:endParaRPr lang="en-US" altLang="zh-CN"/>
          </a:p>
        </p:txBody>
      </p:sp>
    </p:spTree>
    <p:custDataLst>
      <p:tags r:id="rId7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79424" y="165839"/>
            <a:ext cx="11233151" cy="415290"/>
          </a:xfrm>
        </p:spPr>
        <p:txBody>
          <a:bodyPr/>
          <a:lstStyle/>
          <a:p>
            <a:r>
              <a:rPr lang="en-US" altLang="zh-CN"/>
              <a:t>SLAM Algorithm (SimpleGridSLAM Class)</a:t>
            </a:r>
            <a:endParaRPr lang="en-US" altLang="zh-CN"/>
          </a:p>
        </p:txBody>
      </p:sp>
      <p:sp>
        <p:nvSpPr>
          <p:cNvPr id="3" name="文本框 2"/>
          <p:cNvSpPr txBox="1"/>
          <p:nvPr userDrawn="1"/>
        </p:nvSpPr>
        <p:spPr>
          <a:xfrm>
            <a:off x="6310170" y="1551667"/>
            <a:ext cx="5567671" cy="138896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00" b="1">
                <a:solidFill>
                  <a:srgbClr val="0070C0"/>
                </a:solidFill>
              </a:rPr>
              <a:t>Grid map construction</a:t>
            </a:r>
            <a:endParaRPr lang="en-US" altLang="zh-CN" sz="2200" b="1">
              <a:solidFill>
                <a:srgbClr val="0070C0"/>
              </a:solidFill>
            </a:endParaRPr>
          </a:p>
          <a:p>
            <a:r>
              <a:rPr lang="en-US" altLang="zh-CN">
                <a:solidFill>
                  <a:srgbClr val="000000"/>
                </a:solidFill>
              </a:rPr>
              <a:t>Map size: 500×500 raster</a:t>
            </a:r>
            <a:endParaRPr lang="en-US" altLang="zh-CN">
              <a:solidFill>
                <a:srgbClr val="000000"/>
              </a:solidFill>
            </a:endParaRPr>
          </a:p>
          <a:p>
            <a:r>
              <a:rPr lang="en-US" altLang="zh-CN">
                <a:solidFill>
                  <a:srgbClr val="000000"/>
                </a:solidFill>
              </a:rPr>
              <a:t>Resolution: 5cm per grid</a:t>
            </a:r>
            <a:endParaRPr lang="en-US" altLang="zh-CN">
              <a:solidFill>
                <a:srgbClr val="000000"/>
              </a:solidFill>
            </a:endParaRPr>
          </a:p>
          <a:p>
            <a:r>
              <a:rPr lang="en-US" altLang="zh-CN">
                <a:solidFill>
                  <a:srgbClr val="000000"/>
                </a:solidFill>
              </a:rPr>
              <a:t>Probability Update: Cumulative weight of obstacles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742499" y="3782182"/>
            <a:ext cx="5125112" cy="209169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 sz="2200" b="1">
                <a:solidFill>
                  <a:srgbClr val="0070C0"/>
                </a:solidFill>
              </a:rPr>
              <a:t>Intelligent filtering</a:t>
            </a:r>
            <a:endParaRPr lang="en-US" altLang="zh-CN" sz="2200" b="1">
              <a:solidFill>
                <a:srgbClr val="0070C0"/>
              </a:solidFill>
            </a:endParaRPr>
          </a:p>
          <a:p>
            <a:r>
              <a:rPr lang="en-US" altLang="zh-CN"/>
              <a:t>Rotation detection filtering: Prevents trailing in mapping during rotation</a:t>
            </a:r>
            <a:endParaRPr lang="en-US" altLang="zh-CN"/>
          </a:p>
          <a:p>
            <a:r>
              <a:rPr lang="en-US" altLang="zh-CN"/>
              <a:t>Motion prediction filtering: Eliminate historical point trailing</a:t>
            </a:r>
            <a:endParaRPr lang="en-US" altLang="zh-CN"/>
          </a:p>
          <a:p>
            <a:r>
              <a:rPr lang="en-US" altLang="zh-CN"/>
              <a:t>Overlap protection mechanism: Protecting the characteristics of the real environment</a:t>
            </a:r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742499" y="1551667"/>
            <a:ext cx="4953799" cy="42989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 sz="2200" b="1">
                <a:solidFill>
                  <a:srgbClr val="0070C0"/>
                </a:solidFill>
              </a:rPr>
              <a:t>Coordinate system unification</a:t>
            </a:r>
            <a:endParaRPr lang="zh-CN" altLang="en-US" sz="2200" b="1">
              <a:solidFill>
                <a:srgbClr val="0070C0"/>
              </a:solidFill>
            </a:endParaRPr>
          </a:p>
        </p:txBody>
      </p:sp>
      <p:pic>
        <p:nvPicPr>
          <p:cNvPr id="7" name="图片 6" descr="post_object_image_2977282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260" y="2196338"/>
            <a:ext cx="3045987" cy="1363378"/>
          </a:xfrm>
          <a:prstGeom prst="rect">
            <a:avLst/>
          </a:prstGeom>
        </p:spPr>
      </p:pic>
      <p:pic>
        <p:nvPicPr>
          <p:cNvPr id="8" name="图片 7" descr="post_object_image_12265645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381" y="3212940"/>
            <a:ext cx="5396537" cy="3230231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79424" y="165839"/>
            <a:ext cx="11233151" cy="415290"/>
          </a:xfrm>
        </p:spPr>
        <p:txBody>
          <a:bodyPr/>
          <a:lstStyle/>
          <a:p>
            <a:r>
              <a:rPr lang="en-US" altLang="zh-CN"/>
              <a:t>Frontier Detection </a:t>
            </a:r>
            <a:r>
              <a:t>&amp; </a:t>
            </a:r>
            <a:r>
              <a:rPr lang="en-US" altLang="zh-CN"/>
              <a:t>Selection Logic</a:t>
            </a:r>
            <a:endParaRPr lang="en-US" altLang="zh-CN"/>
          </a:p>
        </p:txBody>
      </p:sp>
      <p:sp>
        <p:nvSpPr>
          <p:cNvPr id="3" name="文本框 2"/>
          <p:cNvSpPr txBox="1"/>
          <p:nvPr userDrawn="1"/>
        </p:nvSpPr>
        <p:spPr>
          <a:xfrm>
            <a:off x="548811" y="2915142"/>
            <a:ext cx="2981445" cy="197437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00" b="1">
                <a:solidFill>
                  <a:srgbClr val="00B0F0"/>
                </a:solidFill>
              </a:rPr>
              <a:t>Data Preprocessing</a:t>
            </a:r>
            <a:endParaRPr lang="en-US" altLang="zh-CN" sz="2200" b="1">
              <a:solidFill>
                <a:srgbClr val="00B0F0"/>
              </a:solidFill>
            </a:endParaRPr>
          </a:p>
          <a:p>
            <a:r>
              <a:rPr lang="en-US" altLang="zh-CN" b="1">
                <a:solidFill>
                  <a:srgbClr val="000000"/>
                </a:solidFill>
              </a:rPr>
              <a:t>LiDAR data undergoes dual distance correction, quality filtering, and time</a:t>
            </a:r>
            <a:r>
              <a:rPr lang="zh-CN" altLang="en-US" b="1">
                <a:solidFill>
                  <a:srgbClr val="000000"/>
                </a:solidFill>
              </a:rPr>
              <a:t>-</a:t>
            </a:r>
            <a:r>
              <a:rPr lang="en-US" altLang="zh-CN" b="1">
                <a:solidFill>
                  <a:srgbClr val="000000"/>
                </a:solidFill>
              </a:rPr>
              <a:t>windowing.</a:t>
            </a:r>
            <a:endParaRPr lang="zh-CN" altLang="en-US" sz="2400" b="1">
              <a:solidFill>
                <a:srgbClr val="00B0F0"/>
              </a:solidFill>
            </a:endParaRPr>
          </a:p>
        </p:txBody>
      </p:sp>
      <p:pic>
        <p:nvPicPr>
          <p:cNvPr id="4" name="图片 3" descr="post_object_image_18950120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830" y="3160701"/>
            <a:ext cx="390525" cy="676275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4739132" y="3004934"/>
            <a:ext cx="3330815" cy="132532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00" b="1">
                <a:solidFill>
                  <a:srgbClr val="00B0F0"/>
                </a:solidFill>
              </a:rPr>
              <a:t>Environmental Perception</a:t>
            </a:r>
            <a:endParaRPr lang="en-US" altLang="zh-CN" sz="2200" b="1">
              <a:solidFill>
                <a:srgbClr val="00B0F0"/>
              </a:solidFill>
            </a:endParaRPr>
          </a:p>
          <a:p>
            <a:r>
              <a:rPr lang="en-US" altLang="zh-CN" b="1">
                <a:solidFill>
                  <a:srgbClr val="000000"/>
                </a:solidFill>
              </a:rPr>
              <a:t>Detects open areas (&gt;5m) as potential exits and recognizes obstacles from point clouds.</a:t>
            </a:r>
            <a:endParaRPr lang="zh-CN" altLang="en-US" b="1">
              <a:solidFill>
                <a:srgbClr val="000000"/>
              </a:solidFill>
            </a:endParaRPr>
          </a:p>
        </p:txBody>
      </p:sp>
      <p:pic>
        <p:nvPicPr>
          <p:cNvPr id="6" name="图片 5" descr="post_object_image_18666553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575" y="3160700"/>
            <a:ext cx="390525" cy="676275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9168901" y="3004959"/>
            <a:ext cx="2603996" cy="162463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00" b="1">
                <a:solidFill>
                  <a:srgbClr val="00B0F0"/>
                </a:solidFill>
              </a:rPr>
              <a:t>Path Planning</a:t>
            </a:r>
            <a:endParaRPr lang="en-US" altLang="zh-CN" sz="2200" b="1">
              <a:solidFill>
                <a:srgbClr val="00B0F0"/>
              </a:solidFill>
            </a:endParaRPr>
          </a:p>
          <a:p>
            <a:r>
              <a:rPr lang="en-US" altLang="zh-CN" b="1">
                <a:solidFill>
                  <a:srgbClr val="000000"/>
                </a:solidFill>
              </a:rPr>
              <a:t>The A* algorithm plans the optimal route to the selected frontier on the grid map.</a:t>
            </a:r>
            <a:endParaRPr lang="zh-CN" altLang="en-US" sz="2200" b="1">
              <a:solidFill>
                <a:srgbClr val="00B0F0"/>
              </a:solidFill>
            </a:endParaRPr>
          </a:p>
        </p:txBody>
      </p:sp>
      <p:pic>
        <p:nvPicPr>
          <p:cNvPr id="8" name="图片 7" descr="post_object_image_14170921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066" y="1741923"/>
            <a:ext cx="800100" cy="800100"/>
          </a:xfrm>
          <a:prstGeom prst="rect">
            <a:avLst/>
          </a:prstGeom>
        </p:spPr>
      </p:pic>
      <p:pic>
        <p:nvPicPr>
          <p:cNvPr id="9" name="图片 8" descr="post_object_image_379563658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403" y="1741877"/>
            <a:ext cx="1038225" cy="800100"/>
          </a:xfrm>
          <a:prstGeom prst="rect">
            <a:avLst/>
          </a:prstGeom>
        </p:spPr>
      </p:pic>
      <p:pic>
        <p:nvPicPr>
          <p:cNvPr id="10" name="图片 9" descr="post_object_image_16252559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8822" y="1627629"/>
            <a:ext cx="914400" cy="9144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79424" y="165839"/>
            <a:ext cx="11233151" cy="415290"/>
          </a:xfrm>
        </p:spPr>
        <p:txBody>
          <a:bodyPr/>
          <a:lstStyle/>
          <a:p>
            <a:r>
              <a:rPr lang="en-US" altLang="zh-CN"/>
              <a:t>User Interface Feature Set</a:t>
            </a:r>
            <a:endParaRPr lang="en-US" altLang="zh-CN"/>
          </a:p>
        </p:txBody>
      </p:sp>
      <p:sp>
        <p:nvSpPr>
          <p:cNvPr id="3" name="文本框 2"/>
          <p:cNvSpPr txBox="1"/>
          <p:nvPr userDrawn="1"/>
        </p:nvSpPr>
        <p:spPr>
          <a:xfrm>
            <a:off x="927935" y="2146916"/>
            <a:ext cx="4838454" cy="3187422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00B0F0"/>
                </a:solidFill>
              </a:rPr>
              <a:t>Real</a:t>
            </a:r>
            <a:r>
              <a:rPr lang="zh-CN" altLang="en-US" sz="2400" b="1">
                <a:solidFill>
                  <a:srgbClr val="00B0F0"/>
                </a:solidFill>
              </a:rPr>
              <a:t>-</a:t>
            </a:r>
            <a:r>
              <a:rPr lang="en-US" altLang="zh-CN" sz="2400" b="1">
                <a:solidFill>
                  <a:srgbClr val="00B0F0"/>
                </a:solidFill>
              </a:rPr>
              <a:t>Time Control Panel</a:t>
            </a:r>
            <a:endParaRPr lang="en-US" altLang="zh-CN" sz="2400" b="1">
              <a:solidFill>
                <a:srgbClr val="00B0F0"/>
              </a:solidFill>
            </a:endParaRPr>
          </a:p>
          <a:p>
            <a:endParaRPr lang="zh-CN" altLang="en-US" sz="2400" b="1">
              <a:solidFill>
                <a:srgbClr val="00B0F0"/>
              </a:solidFill>
            </a:endParaRPr>
          </a:p>
          <a:p>
            <a:r>
              <a:rPr lang="en-US" altLang="zh-CN" b="1">
                <a:solidFill>
                  <a:srgbClr val="000000"/>
                </a:solidFill>
              </a:rPr>
              <a:t>Direction Key Control</a:t>
            </a:r>
            <a:r>
              <a:rPr lang="en-US" altLang="zh-CN">
                <a:solidFill>
                  <a:srgbClr val="000000"/>
                </a:solidFill>
              </a:rPr>
              <a:t>: Use arrow keys (↑↓←→) for intuitive, real</a:t>
            </a:r>
            <a:r>
              <a:rPr lang="zh-CN" altLang="en-US">
                <a:solidFill>
                  <a:srgbClr val="000000"/>
                </a:solidFill>
              </a:rPr>
              <a:t>-</a:t>
            </a:r>
            <a:r>
              <a:rPr lang="en-US" altLang="zh-CN">
                <a:solidFill>
                  <a:srgbClr val="000000"/>
                </a:solidFill>
              </a:rPr>
              <a:t>time motion.</a:t>
            </a:r>
            <a:endParaRPr lang="en-US" altLang="zh-CN">
              <a:solidFill>
                <a:srgbClr val="000000"/>
              </a:solidFill>
            </a:endParaRPr>
          </a:p>
          <a:p>
            <a:r>
              <a:rPr lang="en-US" altLang="zh-CN" b="1">
                <a:solidFill>
                  <a:srgbClr val="000000"/>
                </a:solidFill>
              </a:rPr>
              <a:t>Precision Command Input</a:t>
            </a:r>
            <a:r>
              <a:rPr lang="en-US" altLang="zh-CN">
                <a:solidFill>
                  <a:srgbClr val="000000"/>
                </a:solidFill>
              </a:rPr>
              <a:t>: Type commands like F50 (forward 50cm) or L90 (left 90°) for exact control.</a:t>
            </a:r>
            <a:endParaRPr lang="en-US" altLang="zh-CN">
              <a:solidFill>
                <a:srgbClr val="000000"/>
              </a:solidFill>
            </a:endParaRPr>
          </a:p>
          <a:p>
            <a:r>
              <a:rPr lang="en-US" altLang="zh-CN" b="1">
                <a:solidFill>
                  <a:srgbClr val="000000"/>
                </a:solidFill>
              </a:rPr>
              <a:t>Parameter Adjustment</a:t>
            </a:r>
            <a:r>
              <a:rPr lang="en-US" altLang="zh-CN">
                <a:solidFill>
                  <a:srgbClr val="000000"/>
                </a:solidFill>
              </a:rPr>
              <a:t>: On</a:t>
            </a:r>
            <a:r>
              <a:rPr lang="zh-CN" altLang="en-US">
                <a:solidFill>
                  <a:srgbClr val="000000"/>
                </a:solidFill>
              </a:rPr>
              <a:t>-</a:t>
            </a:r>
            <a:r>
              <a:rPr lang="en-US" altLang="zh-CN">
                <a:solidFill>
                  <a:srgbClr val="000000"/>
                </a:solidFill>
              </a:rPr>
              <a:t>the</a:t>
            </a:r>
            <a:r>
              <a:rPr lang="zh-CN" altLang="en-US">
                <a:solidFill>
                  <a:srgbClr val="000000"/>
                </a:solidFill>
              </a:rPr>
              <a:t>-</a:t>
            </a:r>
            <a:r>
              <a:rPr lang="en-US" altLang="zh-CN">
                <a:solidFill>
                  <a:srgbClr val="000000"/>
                </a:solidFill>
              </a:rPr>
              <a:t>fly tuning of distance scale and short</a:t>
            </a:r>
            <a:r>
              <a:rPr lang="zh-CN" altLang="en-US">
                <a:solidFill>
                  <a:srgbClr val="000000"/>
                </a:solidFill>
              </a:rPr>
              <a:t>-</a:t>
            </a:r>
            <a:r>
              <a:rPr lang="en-US" altLang="zh-CN">
                <a:solidFill>
                  <a:srgbClr val="000000"/>
                </a:solidFill>
              </a:rPr>
              <a:t>range correction via sliders.</a:t>
            </a:r>
            <a:endParaRPr lang="zh-CN" altLang="en-US" sz="2400">
              <a:solidFill>
                <a:srgbClr val="00B0F0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7163532" y="2146941"/>
            <a:ext cx="4395639" cy="335390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0070C0"/>
                </a:solidFill>
              </a:rPr>
              <a:t>Map Management</a:t>
            </a:r>
            <a:endParaRPr lang="en-US" altLang="zh-CN" sz="2400" b="1">
              <a:solidFill>
                <a:srgbClr val="0070C0"/>
              </a:solidFill>
            </a:endParaRPr>
          </a:p>
          <a:p>
            <a:endParaRPr lang="zh-CN" altLang="en-US" sz="2400">
              <a:solidFill>
                <a:srgbClr val="0070C0"/>
              </a:solidFill>
            </a:endParaRPr>
          </a:p>
          <a:p>
            <a:r>
              <a:rPr lang="en-US" altLang="zh-CN" b="1">
                <a:solidFill>
                  <a:srgbClr val="000000"/>
                </a:solidFill>
              </a:rPr>
              <a:t>Auto</a:t>
            </a:r>
            <a:r>
              <a:rPr lang="zh-CN" altLang="en-US" b="1">
                <a:solidFill>
                  <a:srgbClr val="000000"/>
                </a:solidFill>
              </a:rPr>
              <a:t>-</a:t>
            </a:r>
            <a:r>
              <a:rPr lang="en-US" altLang="zh-CN" b="1">
                <a:solidFill>
                  <a:srgbClr val="000000"/>
                </a:solidFill>
              </a:rPr>
              <a:t>Save</a:t>
            </a:r>
            <a:r>
              <a:rPr lang="en-US" altLang="zh-CN">
                <a:solidFill>
                  <a:srgbClr val="000000"/>
                </a:solidFill>
              </a:rPr>
              <a:t>: Maps are automatically saved as .png images and .npy data files.</a:t>
            </a:r>
            <a:endParaRPr lang="en-US" altLang="zh-CN">
              <a:solidFill>
                <a:srgbClr val="000000"/>
              </a:solidFill>
            </a:endParaRPr>
          </a:p>
          <a:p>
            <a:r>
              <a:rPr lang="en-US" altLang="zh-CN" b="1">
                <a:solidFill>
                  <a:srgbClr val="000000"/>
                </a:solidFill>
              </a:rPr>
              <a:t>Metadata Recording</a:t>
            </a:r>
            <a:r>
              <a:rPr lang="en-US" altLang="zh-CN">
                <a:solidFill>
                  <a:srgbClr val="000000"/>
                </a:solidFill>
              </a:rPr>
              <a:t>: A .json file logs scan statistics and trajectory information.</a:t>
            </a:r>
            <a:endParaRPr lang="en-US" altLang="zh-CN">
              <a:solidFill>
                <a:srgbClr val="000000"/>
              </a:solidFill>
            </a:endParaRPr>
          </a:p>
          <a:p>
            <a:r>
              <a:rPr lang="en-US" altLang="zh-CN" b="1">
                <a:solidFill>
                  <a:srgbClr val="000000"/>
                </a:solidFill>
              </a:rPr>
              <a:t>Multi</a:t>
            </a:r>
            <a:r>
              <a:rPr lang="zh-CN" altLang="en-US" b="1">
                <a:solidFill>
                  <a:srgbClr val="000000"/>
                </a:solidFill>
              </a:rPr>
              <a:t>-</a:t>
            </a:r>
            <a:r>
              <a:rPr lang="en-US" altLang="zh-CN" b="1">
                <a:solidFill>
                  <a:srgbClr val="000000"/>
                </a:solidFill>
              </a:rPr>
              <a:t>Format Support</a:t>
            </a:r>
            <a:r>
              <a:rPr lang="en-US" altLang="zh-CN">
                <a:solidFill>
                  <a:srgbClr val="000000"/>
                </a:solidFill>
              </a:rPr>
              <a:t>: Ensures compatibility for replay, analysis, and sharing without extra export steps.</a:t>
            </a:r>
            <a:endParaRPr lang="zh-CN" altLang="en-US" sz="2400">
              <a:solidFill>
                <a:srgbClr val="0070C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5058701"/>
            <a:ext cx="12192000" cy="1799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4253" b="15909"/>
          <a:stretch>
            <a:fillRect/>
          </a:stretch>
        </p:blipFill>
        <p:spPr>
          <a:xfrm>
            <a:off x="3316771" y="788306"/>
            <a:ext cx="8179904" cy="5270215"/>
          </a:xfrm>
          <a:custGeom>
            <a:avLst/>
            <a:gdLst>
              <a:gd name="connsiteX0" fmla="*/ 0 w 2894062"/>
              <a:gd name="connsiteY0" fmla="*/ 0 h 5275802"/>
              <a:gd name="connsiteX1" fmla="*/ 2894062 w 2894062"/>
              <a:gd name="connsiteY1" fmla="*/ 0 h 5275802"/>
              <a:gd name="connsiteX2" fmla="*/ 2894062 w 2894062"/>
              <a:gd name="connsiteY2" fmla="*/ 5275802 h 5275802"/>
              <a:gd name="connsiteX3" fmla="*/ 0 w 2894062"/>
              <a:gd name="connsiteY3" fmla="*/ 5275802 h 527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4062" h="5275802">
                <a:moveTo>
                  <a:pt x="0" y="0"/>
                </a:moveTo>
                <a:lnTo>
                  <a:pt x="2894062" y="0"/>
                </a:lnTo>
                <a:lnTo>
                  <a:pt x="2894062" y="5275802"/>
                </a:lnTo>
                <a:lnTo>
                  <a:pt x="0" y="5275802"/>
                </a:lnTo>
                <a:close/>
              </a:path>
            </a:pathLst>
          </a:custGeom>
          <a:ln>
            <a:noFill/>
          </a:ln>
        </p:spPr>
      </p:pic>
      <p:sp>
        <p:nvSpPr>
          <p:cNvPr id="22" name="part"/>
          <p:cNvSpPr/>
          <p:nvPr/>
        </p:nvSpPr>
        <p:spPr>
          <a:xfrm>
            <a:off x="695325" y="785512"/>
            <a:ext cx="2428875" cy="527580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page"/>
          <p:cNvSpPr txBox="1"/>
          <p:nvPr/>
        </p:nvSpPr>
        <p:spPr>
          <a:xfrm>
            <a:off x="11460667" y="6385673"/>
            <a:ext cx="99386" cy="2154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48DBFAF-01A5-47DE-A33F-834723B47D4E}" type="slidenum">
              <a:rPr lang="ja-JP" altLang="en-US" sz="1400" b="1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</a:fld>
            <a:endParaRPr lang="ja-JP" altLang="en-US" sz="1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part"/>
          <p:cNvSpPr/>
          <p:nvPr/>
        </p:nvSpPr>
        <p:spPr>
          <a:xfrm flipH="1">
            <a:off x="1366520" y="2532604"/>
            <a:ext cx="1086485" cy="17849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90000" rIns="0" bIns="9000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>
              <a:lnSpc>
                <a:spcPct val="90000"/>
              </a:lnSpc>
            </a:pPr>
            <a:r>
              <a:rPr kumimoji="1"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Part</a:t>
            </a:r>
            <a:endParaRPr kumimoji="1"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>
              <a:lnSpc>
                <a:spcPct val="90000"/>
              </a:lnSpc>
            </a:pPr>
            <a:r>
              <a:rPr kumimoji="1" lang="en-US" altLang="zh-CN" sz="7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05</a:t>
            </a:r>
            <a:endParaRPr kumimoji="1" lang="en-US" altLang="zh-CN" sz="7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5325" y="748932"/>
            <a:ext cx="2428875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4689158" y="2678613"/>
            <a:ext cx="5435063" cy="144079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kumimoji="1"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 integration and optimization</a:t>
            </a:r>
            <a:endParaRPr kumimoji="1"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24" y="165838"/>
            <a:ext cx="11233151" cy="415290"/>
          </a:xfrm>
        </p:spPr>
        <p:txBody>
          <a:bodyPr/>
          <a:p>
            <a:r>
              <a:rPr lang="en-US" altLang="zh-CN"/>
              <a:t>System integration and optimization</a:t>
            </a:r>
            <a:endParaRPr lang="en-US" altLang="zh-CN"/>
          </a:p>
        </p:txBody>
      </p:sp>
      <p:pic>
        <p:nvPicPr>
          <p:cNvPr id="4" name="图片 3" descr="post_object_image_23981988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334" y="937870"/>
            <a:ext cx="10583290" cy="2597433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4322659" y="3898574"/>
            <a:ext cx="6956461" cy="2470714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00"/>
              <a:t> </a:t>
            </a:r>
            <a:r>
              <a:rPr lang="en-US" altLang="zh-CN" sz="2200">
                <a:solidFill>
                  <a:schemeClr val="accent4">
                    <a:lumMod val="75000"/>
                  </a:schemeClr>
                </a:solidFill>
              </a:rPr>
              <a:t>Real</a:t>
            </a:r>
            <a:r>
              <a:rPr lang="zh-CN" altLang="en-US" sz="2200">
                <a:solidFill>
                  <a:schemeClr val="accent4">
                    <a:lumMod val="75000"/>
                  </a:schemeClr>
                </a:solidFill>
              </a:rPr>
              <a:t>-</a:t>
            </a:r>
            <a:r>
              <a:rPr lang="en-US" altLang="zh-CN" sz="2200">
                <a:solidFill>
                  <a:schemeClr val="accent4">
                    <a:lumMod val="75000"/>
                  </a:schemeClr>
                </a:solidFill>
              </a:rPr>
              <a:t>time performance: </a:t>
            </a:r>
            <a:r>
              <a:rPr lang="en-US" altLang="zh-CN" sz="2200" b="1">
                <a:solidFill>
                  <a:schemeClr val="accent4">
                    <a:lumMod val="75000"/>
                  </a:schemeClr>
                </a:solidFill>
              </a:rPr>
              <a:t>&lt;5ms</a:t>
            </a:r>
            <a:r>
              <a:rPr lang="en-US" altLang="zh-CN" sz="2200">
                <a:solidFill>
                  <a:schemeClr val="accent4">
                    <a:lumMod val="75000"/>
                  </a:schemeClr>
                </a:solidFill>
              </a:rPr>
              <a:t> position update delay</a:t>
            </a:r>
            <a:endParaRPr lang="en-US" altLang="zh-CN" sz="2200">
              <a:solidFill>
                <a:schemeClr val="accent4">
                  <a:lumMod val="75000"/>
                </a:schemeClr>
              </a:solidFill>
            </a:endParaRPr>
          </a:p>
          <a:p>
            <a:endParaRPr lang="en-US" altLang="zh-CN" sz="2200"/>
          </a:p>
          <a:p>
            <a:r>
              <a:rPr lang="en-US" altLang="zh-CN" sz="2200">
                <a:solidFill>
                  <a:schemeClr val="accent4">
                    <a:lumMod val="75000"/>
                  </a:schemeClr>
                </a:solidFill>
              </a:rPr>
              <a:t> Accuracy: </a:t>
            </a:r>
            <a:r>
              <a:rPr lang="en-US" altLang="zh-CN" sz="2200" b="1">
                <a:solidFill>
                  <a:schemeClr val="accent4">
                    <a:lumMod val="75000"/>
                  </a:schemeClr>
                </a:solidFill>
              </a:rPr>
              <a:t>±1cm/</a:t>
            </a:r>
            <a:r>
              <a:rPr lang="en-US" altLang="zh-CN" sz="2200">
                <a:solidFill>
                  <a:schemeClr val="accent4">
                    <a:lumMod val="75000"/>
                  </a:schemeClr>
                </a:solidFill>
              </a:rPr>
              <a:t> m displacement accuracy</a:t>
            </a:r>
            <a:endParaRPr lang="en-US" altLang="zh-CN" sz="2200">
              <a:solidFill>
                <a:schemeClr val="accent4">
                  <a:lumMod val="75000"/>
                </a:schemeClr>
              </a:solidFill>
            </a:endParaRPr>
          </a:p>
          <a:p>
            <a:endParaRPr lang="en-US" altLang="zh-CN" sz="2200"/>
          </a:p>
          <a:p>
            <a:r>
              <a:rPr lang="en-US" altLang="zh-CN" sz="2200">
                <a:solidFill>
                  <a:schemeClr val="accent4">
                    <a:lumMod val="75000"/>
                  </a:schemeClr>
                </a:solidFill>
              </a:rPr>
              <a:t> Stability: </a:t>
            </a:r>
            <a:r>
              <a:rPr lang="en-US" altLang="zh-CN" sz="2200" b="1">
                <a:solidFill>
                  <a:schemeClr val="accent4">
                    <a:lumMod val="75000"/>
                  </a:schemeClr>
                </a:solidFill>
              </a:rPr>
              <a:t>250Hz</a:t>
            </a:r>
            <a:r>
              <a:rPr lang="en-US" altLang="zh-CN" sz="2200">
                <a:solidFill>
                  <a:schemeClr val="accent4">
                    <a:lumMod val="75000"/>
                  </a:schemeClr>
                </a:solidFill>
              </a:rPr>
              <a:t> IMU update, </a:t>
            </a:r>
            <a:r>
              <a:rPr lang="en-US" altLang="zh-CN" sz="2200" b="1">
                <a:solidFill>
                  <a:schemeClr val="accent4">
                    <a:lumMod val="75000"/>
                  </a:schemeClr>
                </a:solidFill>
              </a:rPr>
              <a:t>10Hz</a:t>
            </a:r>
            <a:r>
              <a:rPr lang="en-US" altLang="zh-CN" sz="2200">
                <a:solidFill>
                  <a:schemeClr val="accent4">
                    <a:lumMod val="75000"/>
                  </a:schemeClr>
                </a:solidFill>
              </a:rPr>
              <a:t> radar scan Robustness: Multi</a:t>
            </a:r>
            <a:r>
              <a:rPr lang="zh-CN" altLang="en-US" sz="2200">
                <a:solidFill>
                  <a:schemeClr val="accent4">
                    <a:lumMod val="75000"/>
                  </a:schemeClr>
                </a:solidFill>
              </a:rPr>
              <a:t>-</a:t>
            </a:r>
            <a:r>
              <a:rPr lang="en-US" altLang="zh-CN" sz="2200">
                <a:solidFill>
                  <a:schemeClr val="accent4">
                    <a:lumMod val="75000"/>
                  </a:schemeClr>
                </a:solidFill>
              </a:rPr>
              <a:t>level data checksum and error recovery</a:t>
            </a:r>
            <a:endParaRPr lang="zh-CN" altLang="en-US" sz="220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圆角矩形 5"/>
          <p:cNvSpPr/>
          <p:nvPr userDrawn="1"/>
        </p:nvSpPr>
        <p:spPr>
          <a:xfrm>
            <a:off x="1447741" y="4514929"/>
            <a:ext cx="2025033" cy="1017763"/>
          </a:xfrm>
          <a:prstGeom prst="roundRect">
            <a:avLst/>
          </a:prstGeom>
          <a:ln w="12700" cap="flat" cmpd="sng" algn="ctr">
            <a:solidFill>
              <a:schemeClr val="phClr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 sz="2200">
                <a:solidFill>
                  <a:schemeClr val="bg1"/>
                </a:solidFill>
              </a:rPr>
              <a:t>Performance Indicators</a:t>
            </a:r>
            <a:endParaRPr lang="en-US" altLang="zh-CN" sz="2200">
              <a:solidFill>
                <a:schemeClr val="bg1"/>
              </a:solidFill>
            </a:endParaRPr>
          </a:p>
        </p:txBody>
      </p:sp>
      <p:sp>
        <p:nvSpPr>
          <p:cNvPr id="7" name="左大括号 6"/>
          <p:cNvSpPr/>
          <p:nvPr userDrawn="1"/>
        </p:nvSpPr>
        <p:spPr>
          <a:xfrm>
            <a:off x="3682668" y="4105676"/>
            <a:ext cx="639990" cy="2056510"/>
          </a:xfrm>
          <a:prstGeom prst="leftBrace">
            <a:avLst/>
          </a:prstGeom>
          <a:ln w="6350" cap="flat" cmpd="sng" algn="ctr">
            <a:solidFill>
              <a:schemeClr val="phClr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5058701"/>
            <a:ext cx="12192000" cy="1799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4253" b="15909"/>
          <a:stretch>
            <a:fillRect/>
          </a:stretch>
        </p:blipFill>
        <p:spPr>
          <a:xfrm>
            <a:off x="3316771" y="788306"/>
            <a:ext cx="8179904" cy="5270215"/>
          </a:xfrm>
          <a:custGeom>
            <a:avLst/>
            <a:gdLst>
              <a:gd name="connsiteX0" fmla="*/ 0 w 2894062"/>
              <a:gd name="connsiteY0" fmla="*/ 0 h 5275802"/>
              <a:gd name="connsiteX1" fmla="*/ 2894062 w 2894062"/>
              <a:gd name="connsiteY1" fmla="*/ 0 h 5275802"/>
              <a:gd name="connsiteX2" fmla="*/ 2894062 w 2894062"/>
              <a:gd name="connsiteY2" fmla="*/ 5275802 h 5275802"/>
              <a:gd name="connsiteX3" fmla="*/ 0 w 2894062"/>
              <a:gd name="connsiteY3" fmla="*/ 5275802 h 527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4062" h="5275802">
                <a:moveTo>
                  <a:pt x="0" y="0"/>
                </a:moveTo>
                <a:lnTo>
                  <a:pt x="2894062" y="0"/>
                </a:lnTo>
                <a:lnTo>
                  <a:pt x="2894062" y="5275802"/>
                </a:lnTo>
                <a:lnTo>
                  <a:pt x="0" y="5275802"/>
                </a:lnTo>
                <a:close/>
              </a:path>
            </a:pathLst>
          </a:custGeom>
          <a:ln>
            <a:noFill/>
          </a:ln>
        </p:spPr>
      </p:pic>
      <p:sp>
        <p:nvSpPr>
          <p:cNvPr id="22" name="part"/>
          <p:cNvSpPr/>
          <p:nvPr/>
        </p:nvSpPr>
        <p:spPr>
          <a:xfrm>
            <a:off x="695325" y="785512"/>
            <a:ext cx="2428875" cy="527580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page"/>
          <p:cNvSpPr txBox="1"/>
          <p:nvPr/>
        </p:nvSpPr>
        <p:spPr>
          <a:xfrm>
            <a:off x="11460667" y="6385673"/>
            <a:ext cx="99386" cy="2154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48DBFAF-01A5-47DE-A33F-834723B47D4E}" type="slidenum">
              <a:rPr lang="ja-JP" altLang="en-US" sz="1400" b="1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</a:fld>
            <a:endParaRPr lang="ja-JP" altLang="en-US" sz="1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part"/>
          <p:cNvSpPr/>
          <p:nvPr/>
        </p:nvSpPr>
        <p:spPr>
          <a:xfrm flipH="1">
            <a:off x="1366520" y="2532604"/>
            <a:ext cx="1086485" cy="17849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90000" rIns="0" bIns="9000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>
              <a:lnSpc>
                <a:spcPct val="90000"/>
              </a:lnSpc>
            </a:pPr>
            <a:r>
              <a:rPr kumimoji="1"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Part</a:t>
            </a:r>
            <a:endParaRPr kumimoji="1"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>
              <a:lnSpc>
                <a:spcPct val="90000"/>
              </a:lnSpc>
            </a:pPr>
            <a:r>
              <a:rPr kumimoji="1" lang="en-US" altLang="zh-CN" sz="7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06</a:t>
            </a:r>
            <a:endParaRPr kumimoji="1" lang="en-US" altLang="zh-CN" sz="7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5325" y="748932"/>
            <a:ext cx="2428875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4689158" y="2678613"/>
            <a:ext cx="5435063" cy="1440799"/>
          </a:xfrm>
          <a:prstGeom prst="rect">
            <a:avLst/>
          </a:prstGeom>
        </p:spPr>
        <p:txBody>
          <a:bodyPr wrap="square" rtlCol="0">
            <a:noAutofit/>
          </a:bodyPr>
          <a:p>
            <a:pPr algn="ctr">
              <a:lnSpc>
                <a:spcPct val="120000"/>
              </a:lnSpc>
            </a:pPr>
            <a:r>
              <a:rPr lang="en-US" altLang="zh-CN" sz="4400" b="1" dirty="0">
                <a:latin typeface="Arial" panose="020B0604020202020204" pitchFamily="34" charset="0"/>
                <a:sym typeface="Arial" panose="020B0604020202020204" pitchFamily="34" charset="0"/>
              </a:rPr>
              <a:t>Epilogue</a:t>
            </a:r>
            <a:endParaRPr kumimoji="1"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f3971a540ee44e2126189dcee6abd7ce">
            <a:hlinkClick r:id="" action="ppaction://media"/>
          </p:cNvPr>
          <p:cNvPicPr/>
          <p:nvPr userDrawn="1"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958" cy="68443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>
                <p:cTn id="7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5058701"/>
            <a:ext cx="12192000" cy="1799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28689" y="791099"/>
            <a:ext cx="7767986" cy="52758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241300" dir="348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0175" r="10175"/>
          <a:stretch>
            <a:fillRect/>
          </a:stretch>
        </p:blipFill>
        <p:spPr>
          <a:xfrm>
            <a:off x="695325" y="791099"/>
            <a:ext cx="2894062" cy="5275802"/>
          </a:xfrm>
          <a:custGeom>
            <a:avLst/>
            <a:gdLst>
              <a:gd name="connsiteX0" fmla="*/ 0 w 2894062"/>
              <a:gd name="connsiteY0" fmla="*/ 0 h 5275802"/>
              <a:gd name="connsiteX1" fmla="*/ 2894062 w 2894062"/>
              <a:gd name="connsiteY1" fmla="*/ 0 h 5275802"/>
              <a:gd name="connsiteX2" fmla="*/ 2894062 w 2894062"/>
              <a:gd name="connsiteY2" fmla="*/ 5275802 h 5275802"/>
              <a:gd name="connsiteX3" fmla="*/ 0 w 2894062"/>
              <a:gd name="connsiteY3" fmla="*/ 5275802 h 527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4062" h="5275802">
                <a:moveTo>
                  <a:pt x="0" y="0"/>
                </a:moveTo>
                <a:lnTo>
                  <a:pt x="2894062" y="0"/>
                </a:lnTo>
                <a:lnTo>
                  <a:pt x="2894062" y="5275802"/>
                </a:lnTo>
                <a:lnTo>
                  <a:pt x="0" y="5275802"/>
                </a:lnTo>
                <a:close/>
              </a:path>
            </a:pathLst>
          </a:custGeom>
        </p:spPr>
      </p:pic>
      <p:sp>
        <p:nvSpPr>
          <p:cNvPr id="3" name="文本框 2"/>
          <p:cNvSpPr txBox="1"/>
          <p:nvPr/>
        </p:nvSpPr>
        <p:spPr>
          <a:xfrm>
            <a:off x="5853430" y="3152140"/>
            <a:ext cx="2943860" cy="879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4000" b="0" i="0">
                <a:solidFill>
                  <a:srgbClr val="37415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30000"/>
              </a:lnSpc>
              <a:buClrTx/>
              <a:buSzTx/>
              <a:buFontTx/>
            </a:pPr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sym typeface="Arial" panose="020B0604020202020204" pitchFamily="34" charset="0"/>
              </a:rPr>
              <a:t>Thank</a:t>
            </a:r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sym typeface="Arial" panose="020B0604020202020204" pitchFamily="34" charset="0"/>
              </a:rPr>
              <a:t> </a:t>
            </a:r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sym typeface="Arial" panose="020B0604020202020204" pitchFamily="34" charset="0"/>
              </a:rPr>
              <a:t>You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2.34826771653536,&quot;left&quot;:79.4,&quot;top&quot;:175.50858267716535,&quot;width&quot;:815.0205511811024}"/>
</p:tagLst>
</file>

<file path=ppt/tags/tag2.xml><?xml version="1.0" encoding="utf-8"?>
<p:tagLst xmlns:p="http://schemas.openxmlformats.org/presentationml/2006/main">
  <p:tag name="KSO_WM_DIAGRAM_VIRTUALLY_FRAME" val="{&quot;height&quot;:272.34826771653536,&quot;left&quot;:79.4,&quot;top&quot;:175.50858267716535,&quot;width&quot;:815.0205511811024}"/>
</p:tagLst>
</file>

<file path=ppt/tags/tag3.xml><?xml version="1.0" encoding="utf-8"?>
<p:tagLst xmlns:p="http://schemas.openxmlformats.org/presentationml/2006/main">
  <p:tag name="KSO_WM_DIAGRAM_VIRTUALLY_FRAME" val="{&quot;height&quot;:272.34826771653536,&quot;left&quot;:79.4,&quot;top&quot;:175.50858267716535,&quot;width&quot;:815.0205511811024}"/>
</p:tagLst>
</file>

<file path=ppt/tags/tag4.xml><?xml version="1.0" encoding="utf-8"?>
<p:tagLst xmlns:p="http://schemas.openxmlformats.org/presentationml/2006/main">
  <p:tag name="KSO_WM_DIAGRAM_VIRTUALLY_FRAME" val="{&quot;height&quot;:272.34826771653536,&quot;left&quot;:79.4,&quot;top&quot;:175.50858267716535,&quot;width&quot;:815.0205511811024}"/>
</p:tagLst>
</file>

<file path=ppt/tags/tag5.xml><?xml version="1.0" encoding="utf-8"?>
<p:tagLst xmlns:p="http://schemas.openxmlformats.org/presentationml/2006/main">
  <p:tag name="KSO_WM_DIAGRAM_VIRTUALLY_FRAME" val="{&quot;height&quot;:272.34826771653536,&quot;left&quot;:79.4,&quot;top&quot;:175.50858267716535,&quot;width&quot;:815.0205511811024}"/>
</p:tagLst>
</file>

<file path=ppt/tags/tag6.xml><?xml version="1.0" encoding="utf-8"?>
<p:tagLst xmlns:p="http://schemas.openxmlformats.org/presentationml/2006/main">
  <p:tag name="KSO_WM_DIAGRAM_VIRTUALLY_FRAME" val="{&quot;height&quot;:272.34826771653536,&quot;left&quot;:79.4,&quot;top&quot;:175.50858267716535,&quot;width&quot;:815.0205511811024}"/>
</p:tagLst>
</file>

<file path=ppt/tags/tag7.xml><?xml version="1.0" encoding="utf-8"?>
<p:tagLst xmlns:p="http://schemas.openxmlformats.org/presentationml/2006/main">
  <p:tag name="KSO_WM_DIAGRAM_VIRTUALLY_FRAME" val="{&quot;height&quot;:272.34826771653536,&quot;left&quot;:79.4,&quot;top&quot;:175.50858267716535,&quot;width&quot;:815.0205511811024}"/>
</p:tagLst>
</file>

<file path=ppt/tags/tag8.xml><?xml version="1.0" encoding="utf-8"?>
<p:tagLst xmlns:p="http://schemas.openxmlformats.org/presentationml/2006/main">
  <p:tag name="KSO_WM_DIAGRAM_VIRTUALLY_FRAME" val="{&quot;height&quot;:272.34826771653536,&quot;left&quot;:79.4,&quot;top&quot;:175.50858267716535,&quot;width&quot;:815.0205511811024}"/>
</p:tagLst>
</file>

<file path=ppt/tags/tag9.xml><?xml version="1.0" encoding="utf-8"?>
<p:tagLst xmlns:p="http://schemas.openxmlformats.org/presentationml/2006/main">
  <p:tag name="KSO_WM_DIAGRAM_VIRTUALLY_FRAME" val="{&quot;height&quot;:272.34826771653536,&quot;left&quot;:79.4,&quot;top&quot;:175.50858267716535,&quot;width&quot;:815.0205511811024}"/>
</p:tagLst>
</file>

<file path=ppt/tags/tag10.xml><?xml version="1.0" encoding="utf-8"?>
<p:tagLst xmlns:p="http://schemas.openxmlformats.org/presentationml/2006/main">
  <p:tag name="KSO_WM_DIAGRAM_VIRTUALLY_FRAME" val="{&quot;height&quot;:272.34826771653536,&quot;left&quot;:79.4,&quot;top&quot;:175.50858267716535,&quot;width&quot;:815.0205511811024}"/>
</p:tagLst>
</file>

<file path=ppt/tags/tag11.xml><?xml version="1.0" encoding="utf-8"?>
<p:tagLst xmlns:p="http://schemas.openxmlformats.org/presentationml/2006/main">
  <p:tag name="KSO_WM_DIAGRAM_VIRTUALLY_FRAME" val="{&quot;height&quot;:272.34826771653536,&quot;left&quot;:79.4,&quot;top&quot;:175.50858267716535,&quot;width&quot;:815.0205511811024}"/>
</p:tagLst>
</file>

<file path=ppt/tags/tag12.xml><?xml version="1.0" encoding="utf-8"?>
<p:tagLst xmlns:p="http://schemas.openxmlformats.org/presentationml/2006/main">
  <p:tag name="KSO_WM_DIAGRAM_VIRTUALLY_FRAME" val="{&quot;height&quot;:272.34826771653536,&quot;left&quot;:79.4,&quot;top&quot;:175.50858267716535,&quot;width&quot;:815.0205511811024}"/>
</p:tagLst>
</file>

<file path=ppt/tags/tag13.xml><?xml version="1.0" encoding="utf-8"?>
<p:tagLst xmlns:p="http://schemas.openxmlformats.org/presentationml/2006/main">
  <p:tag name="KSO_WM_DIAGRAM_VIRTUALLY_FRAME" val="{&quot;height&quot;:272.34826771653536,&quot;left&quot;:79.4,&quot;top&quot;:175.50858267716535,&quot;width&quot;:815.0205511811024}"/>
</p:tagLst>
</file>

<file path=ppt/tags/tag14.xml><?xml version="1.0" encoding="utf-8"?>
<p:tagLst xmlns:p="http://schemas.openxmlformats.org/presentationml/2006/main">
  <p:tag name="KSO_WM_DIAGRAM_VIRTUALLY_FRAME" val="{&quot;height&quot;:272.34826771653536,&quot;left&quot;:79.4,&quot;top&quot;:175.50858267716535,&quot;width&quot;:815.0205511811024}"/>
</p:tagLst>
</file>

<file path=ppt/tags/tag15.xml><?xml version="1.0" encoding="utf-8"?>
<p:tagLst xmlns:p="http://schemas.openxmlformats.org/presentationml/2006/main">
  <p:tag name="ISLIDE.DIAGRAM" val="#950674;"/>
</p:tagLst>
</file>

<file path=ppt/tags/tag16.xml><?xml version="1.0" encoding="utf-8"?>
<p:tagLst xmlns:p="http://schemas.openxmlformats.org/presentationml/2006/main">
  <p:tag name="ISLIDE.DIAGRAM" val="#950674;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26_1*a*1"/>
  <p:tag name="KSO_WM_TEMPLATE_CATEGORY" val="custom"/>
  <p:tag name="KSO_WM_TEMPLATE_INDEX" val="2023562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18.xml><?xml version="1.0" encoding="utf-8"?>
<p:tagLst xmlns:p="http://schemas.openxmlformats.org/presentationml/2006/main">
  <p:tag name="KSO_WM_SLIDE_ID" val="custom2023562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626"/>
  <p:tag name="KSO_WM_SLIDE_TYPE" val="text"/>
  <p:tag name="KSO_WM_SLIDE_SUBTYPE" val="picTxt"/>
  <p:tag name="KSO_WM_SLIDE_SIZE" val="865*444"/>
  <p:tag name="KSO_WM_SLIDE_POSITION" val="47*47"/>
  <p:tag name="KSO_WM_SLIDE_LAYOUT" val="a_β"/>
  <p:tag name="KSO_WM_SLIDE_LAYOUT_CNT" val="1_1"/>
  <p:tag name="KSO_WM_SPECIAL_SOURCE" val="bdnull"/>
</p:tagLst>
</file>

<file path=ppt/tags/tag19.xml><?xml version="1.0" encoding="utf-8"?>
<p:tagLst xmlns:p="http://schemas.openxmlformats.org/presentationml/2006/main">
  <p:tag name="ISLIDE.DIAGRAM" val="#950674;"/>
</p:tagLst>
</file>

<file path=ppt/tags/tag20.xml><?xml version="1.0" encoding="utf-8"?>
<p:tagLst xmlns:p="http://schemas.openxmlformats.org/presentationml/2006/main">
  <p:tag name="ISLIDE.DIAGRAM" val="#950674;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26_1*a*1"/>
  <p:tag name="KSO_WM_TEMPLATE_CATEGORY" val="custom"/>
  <p:tag name="KSO_WM_TEMPLATE_INDEX" val="2023562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22.xml><?xml version="1.0" encoding="utf-8"?>
<p:tagLst xmlns:p="http://schemas.openxmlformats.org/presentationml/2006/main">
  <p:tag name="KSO_WM_SLIDE_ID" val="custom2023562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626"/>
  <p:tag name="KSO_WM_SLIDE_TYPE" val="text"/>
  <p:tag name="KSO_WM_SLIDE_SUBTYPE" val="picTxt"/>
  <p:tag name="KSO_WM_SLIDE_SIZE" val="865*444"/>
  <p:tag name="KSO_WM_SLIDE_POSITION" val="47*47"/>
  <p:tag name="KSO_WM_SLIDE_LAYOUT" val="a_β"/>
  <p:tag name="KSO_WM_SLIDE_LAYOUT_CNT" val="1_1"/>
  <p:tag name="KSO_WM_SPECIAL_SOURCE" val="bdnull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26_1*a*1"/>
  <p:tag name="KSO_WM_TEMPLATE_CATEGORY" val="custom"/>
  <p:tag name="KSO_WM_TEMPLATE_INDEX" val="2023562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24.xml><?xml version="1.0" encoding="utf-8"?>
<p:tagLst xmlns:p="http://schemas.openxmlformats.org/presentationml/2006/main">
  <p:tag name="KSO_WM_SLIDE_ID" val="custom2023562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626"/>
  <p:tag name="KSO_WM_SLIDE_TYPE" val="text"/>
  <p:tag name="KSO_WM_SLIDE_SUBTYPE" val="picTxt"/>
  <p:tag name="KSO_WM_SLIDE_SIZE" val="865*444"/>
  <p:tag name="KSO_WM_SLIDE_POSITION" val="47*47"/>
  <p:tag name="KSO_WM_SLIDE_LAYOUT" val="a_β"/>
  <p:tag name="KSO_WM_SLIDE_LAYOUT_CNT" val="1_1"/>
  <p:tag name="KSO_WM_SPECIAL_SOURCE" val="bdnull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26_1*a*1"/>
  <p:tag name="KSO_WM_TEMPLATE_CATEGORY" val="custom"/>
  <p:tag name="KSO_WM_TEMPLATE_INDEX" val="2023562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26.xml><?xml version="1.0" encoding="utf-8"?>
<p:tagLst xmlns:p="http://schemas.openxmlformats.org/presentationml/2006/main">
  <p:tag name="KSO_WM_SLIDE_ID" val="custom2023562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626"/>
  <p:tag name="KSO_WM_SLIDE_TYPE" val="text"/>
  <p:tag name="KSO_WM_SLIDE_SUBTYPE" val="picTxt"/>
  <p:tag name="KSO_WM_SLIDE_SIZE" val="865*444"/>
  <p:tag name="KSO_WM_SLIDE_POSITION" val="47*47"/>
  <p:tag name="KSO_WM_SLIDE_LAYOUT" val="a_β"/>
  <p:tag name="KSO_WM_SLIDE_LAYOUT_CNT" val="1_1"/>
  <p:tag name="KSO_WM_SPECIAL_SOURCE" val="bdnull"/>
</p:tagLst>
</file>

<file path=ppt/tags/tag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26_1*a*1"/>
  <p:tag name="KSO_WM_TEMPLATE_CATEGORY" val="custom"/>
  <p:tag name="KSO_WM_TEMPLATE_INDEX" val="2023562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28.xml><?xml version="1.0" encoding="utf-8"?>
<p:tagLst xmlns:p="http://schemas.openxmlformats.org/presentationml/2006/main">
  <p:tag name="KSO_WM_SLIDE_ID" val="custom2023562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626"/>
  <p:tag name="KSO_WM_SLIDE_TYPE" val="text"/>
  <p:tag name="KSO_WM_SLIDE_SUBTYPE" val="picTxt"/>
  <p:tag name="KSO_WM_SLIDE_SIZE" val="865*444"/>
  <p:tag name="KSO_WM_SLIDE_POSITION" val="47*47"/>
  <p:tag name="KSO_WM_SLIDE_LAYOUT" val="a_β"/>
  <p:tag name="KSO_WM_SLIDE_LAYOUT_CNT" val="1_1"/>
  <p:tag name="KSO_WM_SPECIAL_SOURCE" val="bdnull"/>
</p:tagLst>
</file>

<file path=ppt/tags/tag29.xml><?xml version="1.0" encoding="utf-8"?>
<p:tagLst xmlns:p="http://schemas.openxmlformats.org/presentationml/2006/main">
  <p:tag name="ISLIDE.DIAGRAM" val="#950674;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26_1*a*1"/>
  <p:tag name="KSO_WM_TEMPLATE_CATEGORY" val="custom"/>
  <p:tag name="KSO_WM_TEMPLATE_INDEX" val="2023562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31.xml><?xml version="1.0" encoding="utf-8"?>
<p:tagLst xmlns:p="http://schemas.openxmlformats.org/presentationml/2006/main">
  <p:tag name="KSO_WM_SLIDE_ID" val="custom2023562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626"/>
  <p:tag name="KSO_WM_SLIDE_TYPE" val="text"/>
  <p:tag name="KSO_WM_SLIDE_SUBTYPE" val="picTxt"/>
  <p:tag name="KSO_WM_SLIDE_SIZE" val="865*444"/>
  <p:tag name="KSO_WM_SLIDE_POSITION" val="47*47"/>
  <p:tag name="KSO_WM_SLIDE_LAYOUT" val="a_β"/>
  <p:tag name="KSO_WM_SLIDE_LAYOUT_CNT" val="1_1"/>
  <p:tag name="KSO_WM_SPECIAL_SOURCE" val="bdnull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26_1*a*1"/>
  <p:tag name="KSO_WM_TEMPLATE_CATEGORY" val="custom"/>
  <p:tag name="KSO_WM_TEMPLATE_INDEX" val="2023562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33.xml><?xml version="1.0" encoding="utf-8"?>
<p:tagLst xmlns:p="http://schemas.openxmlformats.org/presentationml/2006/main">
  <p:tag name="KSO_WM_SLIDE_ID" val="custom2023562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626"/>
  <p:tag name="KSO_WM_SLIDE_TYPE" val="text"/>
  <p:tag name="KSO_WM_SLIDE_SUBTYPE" val="picTxt"/>
  <p:tag name="KSO_WM_SLIDE_SIZE" val="865*444"/>
  <p:tag name="KSO_WM_SLIDE_POSITION" val="47*47"/>
  <p:tag name="KSO_WM_SLIDE_LAYOUT" val="a_β"/>
  <p:tag name="KSO_WM_SLIDE_LAYOUT_CNT" val="1_1"/>
  <p:tag name="KSO_WM_SPECIAL_SOURCE" val="bdnull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26_1*a*1"/>
  <p:tag name="KSO_WM_TEMPLATE_CATEGORY" val="custom"/>
  <p:tag name="KSO_WM_TEMPLATE_INDEX" val="2023562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35.xml><?xml version="1.0" encoding="utf-8"?>
<p:tagLst xmlns:p="http://schemas.openxmlformats.org/presentationml/2006/main">
  <p:tag name="KSO_WM_SLIDE_ID" val="custom2023562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626"/>
  <p:tag name="KSO_WM_SLIDE_TYPE" val="text"/>
  <p:tag name="KSO_WM_SLIDE_SUBTYPE" val="picTxt"/>
  <p:tag name="KSO_WM_SLIDE_SIZE" val="865*444"/>
  <p:tag name="KSO_WM_SLIDE_POSITION" val="47*47"/>
  <p:tag name="KSO_WM_SLIDE_LAYOUT" val="a_β"/>
  <p:tag name="KSO_WM_SLIDE_LAYOUT_CNT" val="1_1"/>
  <p:tag name="KSO_WM_SPECIAL_SOURCE" val="bdnull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26_1*a*1"/>
  <p:tag name="KSO_WM_TEMPLATE_CATEGORY" val="custom"/>
  <p:tag name="KSO_WM_TEMPLATE_INDEX" val="2023562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37.xml><?xml version="1.0" encoding="utf-8"?>
<p:tagLst xmlns:p="http://schemas.openxmlformats.org/presentationml/2006/main">
  <p:tag name="KSO_WM_SLIDE_ID" val="custom2023562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626"/>
  <p:tag name="KSO_WM_SLIDE_TYPE" val="text"/>
  <p:tag name="KSO_WM_SLIDE_SUBTYPE" val="picTxt"/>
  <p:tag name="KSO_WM_SLIDE_SIZE" val="865*444"/>
  <p:tag name="KSO_WM_SLIDE_POSITION" val="47*47"/>
  <p:tag name="KSO_WM_SLIDE_LAYOUT" val="a_β"/>
  <p:tag name="KSO_WM_SLIDE_LAYOUT_CNT" val="1_1"/>
  <p:tag name="KSO_WM_SPECIAL_SOURCE" val="bdnull"/>
</p:tagLst>
</file>

<file path=ppt/tags/tag38.xml><?xml version="1.0" encoding="utf-8"?>
<p:tagLst xmlns:p="http://schemas.openxmlformats.org/presentationml/2006/main">
  <p:tag name="ISLIDE.DIAGRAM" val="#950674;"/>
</p:tagLst>
</file>

<file path=ppt/tags/tag39.xml><?xml version="1.0" encoding="utf-8"?>
<p:tagLst xmlns:p="http://schemas.openxmlformats.org/presentationml/2006/main">
  <p:tag name="ISLIDE.DIAGRAM" val="#950674;"/>
</p:tagLst>
</file>

<file path=ppt/tags/tag40.xml><?xml version="1.0" encoding="utf-8"?>
<p:tagLst xmlns:p="http://schemas.openxmlformats.org/presentationml/2006/main">
  <p:tag name="resource_record_key" val="{&quot;29&quot;:[50000213,50000076]}"/>
</p:tagLst>
</file>

<file path=ppt/theme/theme1.xml><?xml version="1.0" encoding="utf-8"?>
<a:theme xmlns:a="http://schemas.openxmlformats.org/drawingml/2006/main" name="themepage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D3273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>
              <a:lumMod val="50000"/>
            </a:schemeClr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9104</Words>
  <Application>WPS 演示</Application>
  <PresentationFormat>宽屏</PresentationFormat>
  <Paragraphs>406</Paragraphs>
  <Slides>27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Calibri</vt:lpstr>
      <vt:lpstr>Arial Unicode MS</vt:lpstr>
      <vt:lpstr>等线</vt:lpstr>
      <vt:lpstr>themepage</vt:lpstr>
      <vt:lpstr>PowerPoint 演示文稿</vt:lpstr>
      <vt:lpstr>Brief Introduction</vt:lpstr>
      <vt:lpstr>PowerPoint 演示文稿</vt:lpstr>
      <vt:lpstr>PowerPoint 演示文稿</vt:lpstr>
      <vt:lpstr>PowerPoint 演示文稿</vt:lpstr>
      <vt:lpstr>Design Process</vt:lpstr>
      <vt:lpstr>Hardware Architecture</vt:lpstr>
      <vt:lpstr>PowerPoint 演示文稿</vt:lpstr>
      <vt:lpstr>LiDAR Module (LidarModule.h) </vt:lpstr>
      <vt:lpstr>Motor Control Module (MotorControl.h)</vt:lpstr>
      <vt:lpstr>Encoder Odometry Module (EncoderModule.h)</vt:lpstr>
      <vt:lpstr>IMU Data Processing (im948_CMD.h)</vt:lpstr>
      <vt:lpstr>PowerPoint 演示文稿</vt:lpstr>
      <vt:lpstr>Role Split: STM32 vs Python</vt:lpstr>
      <vt:lpstr>Layered Data Flow Pipeline</vt:lpstr>
      <vt:lpstr>Lightweight Packet Blueprint</vt:lpstr>
      <vt:lpstr>Realtime &amp; Sync Tactics</vt:lpstr>
      <vt:lpstr>PowerPoint 演示文稿</vt:lpstr>
      <vt:lpstr>Visualizer Engine Architecture</vt:lpstr>
      <vt:lpstr>SLAM Algorithm (SimpleGridSLAM Class)</vt:lpstr>
      <vt:lpstr>Frontier Detection &amp; Selection Logic</vt:lpstr>
      <vt:lpstr>User Interface Feature Set</vt:lpstr>
      <vt:lpstr>PowerPoint 演示文稿</vt:lpstr>
      <vt:lpstr>System integration and optimization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论文答辩报告</dc:title>
  <dc:creator>辉强 林</dc:creator>
  <cp:lastModifiedBy>Devin</cp:lastModifiedBy>
  <cp:revision>21</cp:revision>
  <dcterms:created xsi:type="dcterms:W3CDTF">2025-10-22T12:51:06Z</dcterms:created>
  <dcterms:modified xsi:type="dcterms:W3CDTF">2025-10-22T13:15:05Z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F0BDE428BE724FE883EBD62767D2C2B3_13</vt:lpwstr>
  </property>
  <property fmtid="{D5CDD505-2E9C-101B-9397-08002B2CF9AE}" pid="3" name="KSOProductBuildVer">
    <vt:lpwstr>2052-12.1.0.23125</vt:lpwstr>
  </property>
</Properties>
</file>